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678"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863840" y="0"/>
            <a:ext cx="4325112" cy="6858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548640"/>
            <a:ext cx="7132320" cy="384048"/>
          </a:xfrm>
          <a:prstGeom prst="rect">
            <a:avLst/>
          </a:prstGeom>
          <a:noFill/>
        </p:spPr>
        <p:txBody>
          <a:bodyPr wrap="square">
            <a:spAutoFit/>
          </a:bodyPr>
          <a:lstStyle/>
          <a:p>
            <a:pPr algn="l"/>
            <a:r>
              <a:rPr sz="1200" b="1" i="0">
                <a:solidFill>
                  <a:srgbClr val="F59E0B"/>
                </a:solidFill>
                <a:latin typeface="Calibri"/>
              </a:rPr>
              <a:t>VOYAGE ANALYTICS</a:t>
            </a:r>
          </a:p>
        </p:txBody>
      </p:sp>
      <p:sp>
        <p:nvSpPr>
          <p:cNvPr id="7" name="TextBox 6"/>
          <p:cNvSpPr txBox="1"/>
          <p:nvPr/>
        </p:nvSpPr>
        <p:spPr>
          <a:xfrm>
            <a:off x="457200" y="987552"/>
            <a:ext cx="7132320" cy="1417320"/>
          </a:xfrm>
          <a:prstGeom prst="rect">
            <a:avLst/>
          </a:prstGeom>
          <a:noFill/>
        </p:spPr>
        <p:txBody>
          <a:bodyPr wrap="square">
            <a:spAutoFit/>
          </a:bodyPr>
          <a:lstStyle/>
          <a:p>
            <a:pPr algn="l"/>
            <a:r>
              <a:rPr sz="4000" b="1" i="0">
                <a:solidFill>
                  <a:srgbClr val="FFFFFF"/>
                </a:solidFill>
                <a:latin typeface="Calibri"/>
              </a:rPr>
              <a:t>Integrating MLOps
in Travel</a:t>
            </a:r>
          </a:p>
        </p:txBody>
      </p:sp>
      <p:sp>
        <p:nvSpPr>
          <p:cNvPr id="8" name="TextBox 7"/>
          <p:cNvSpPr txBox="1"/>
          <p:nvPr/>
        </p:nvSpPr>
        <p:spPr>
          <a:xfrm>
            <a:off x="457200" y="2542032"/>
            <a:ext cx="7132320" cy="502920"/>
          </a:xfrm>
          <a:prstGeom prst="rect">
            <a:avLst/>
          </a:prstGeom>
          <a:noFill/>
        </p:spPr>
        <p:txBody>
          <a:bodyPr wrap="square">
            <a:spAutoFit/>
          </a:bodyPr>
          <a:lstStyle/>
          <a:p>
            <a:pPr algn="l"/>
            <a:r>
              <a:rPr sz="1150" b="0" i="0">
                <a:solidFill>
                  <a:srgbClr val="B2DFDB"/>
                </a:solidFill>
                <a:latin typeface="Calibri"/>
              </a:rPr>
              <a:t>End-to-end production ML system: Flight price prediction, gender classification, hotel recommendation — deployed via MLflow, Docker, and Streamlit</a:t>
            </a:r>
          </a:p>
        </p:txBody>
      </p:sp>
      <p:sp>
        <p:nvSpPr>
          <p:cNvPr id="9" name="Rectangle 8"/>
          <p:cNvSpPr/>
          <p:nvPr/>
        </p:nvSpPr>
        <p:spPr>
          <a:xfrm>
            <a:off x="457200" y="3182112"/>
            <a:ext cx="292608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3364992"/>
            <a:ext cx="3657600" cy="256032"/>
          </a:xfrm>
          <a:prstGeom prst="rect">
            <a:avLst/>
          </a:prstGeom>
          <a:noFill/>
        </p:spPr>
        <p:txBody>
          <a:bodyPr wrap="square">
            <a:spAutoFit/>
          </a:bodyPr>
          <a:lstStyle/>
          <a:p>
            <a:pPr algn="l"/>
            <a:r>
              <a:rPr sz="1100" b="0" i="1">
                <a:solidFill>
                  <a:srgbClr val="546E7A"/>
                </a:solidFill>
                <a:latin typeface="Calibri"/>
              </a:rPr>
              <a:t>Presented by</a:t>
            </a:r>
          </a:p>
        </p:txBody>
      </p:sp>
      <p:sp>
        <p:nvSpPr>
          <p:cNvPr id="11" name="TextBox 10"/>
          <p:cNvSpPr txBox="1"/>
          <p:nvPr/>
        </p:nvSpPr>
        <p:spPr>
          <a:xfrm>
            <a:off x="457200" y="3639312"/>
            <a:ext cx="7132320" cy="475488"/>
          </a:xfrm>
          <a:prstGeom prst="rect">
            <a:avLst/>
          </a:prstGeom>
          <a:noFill/>
        </p:spPr>
        <p:txBody>
          <a:bodyPr wrap="square">
            <a:spAutoFit/>
          </a:bodyPr>
          <a:lstStyle/>
          <a:p>
            <a:pPr algn="l"/>
            <a:r>
              <a:rPr sz="2200" b="1" i="0">
                <a:solidFill>
                  <a:srgbClr val="FFFFFF"/>
                </a:solidFill>
                <a:latin typeface="Calibri"/>
              </a:rPr>
              <a:t>Vishal Kumar Singh</a:t>
            </a:r>
          </a:p>
        </p:txBody>
      </p:sp>
      <p:sp>
        <p:nvSpPr>
          <p:cNvPr id="12" name="TextBox 11"/>
          <p:cNvSpPr txBox="1"/>
          <p:nvPr/>
        </p:nvSpPr>
        <p:spPr>
          <a:xfrm>
            <a:off x="457200" y="4160520"/>
            <a:ext cx="6400800" cy="292608"/>
          </a:xfrm>
          <a:prstGeom prst="rect">
            <a:avLst/>
          </a:prstGeom>
          <a:noFill/>
        </p:spPr>
        <p:txBody>
          <a:bodyPr wrap="square">
            <a:spAutoFit/>
          </a:bodyPr>
          <a:lstStyle/>
          <a:p>
            <a:pPr algn="l"/>
            <a:r>
              <a:rPr sz="1200" b="0" i="0">
                <a:solidFill>
                  <a:srgbClr val="B2DFDB"/>
                </a:solidFill>
                <a:latin typeface="Calibri"/>
              </a:rPr>
              <a:t>AlmaBetter  |  M.Sc. Data Science  |  2026</a:t>
            </a:r>
          </a:p>
        </p:txBody>
      </p:sp>
      <p:sp>
        <p:nvSpPr>
          <p:cNvPr id="13" name="Rounded Rectangle 12"/>
          <p:cNvSpPr/>
          <p:nvPr/>
        </p:nvSpPr>
        <p:spPr>
          <a:xfrm>
            <a:off x="8092440" y="123444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1417320"/>
            <a:ext cx="1920240" cy="640080"/>
          </a:xfrm>
          <a:prstGeom prst="rect">
            <a:avLst/>
          </a:prstGeom>
          <a:noFill/>
        </p:spPr>
        <p:txBody>
          <a:bodyPr wrap="square">
            <a:spAutoFit/>
          </a:bodyPr>
          <a:lstStyle/>
          <a:p>
            <a:pPr algn="ctr"/>
            <a:r>
              <a:rPr sz="2600" b="1" i="0">
                <a:solidFill>
                  <a:srgbClr val="F59E0B"/>
                </a:solidFill>
                <a:latin typeface="Calibri"/>
              </a:rPr>
              <a:t>271K</a:t>
            </a:r>
          </a:p>
        </p:txBody>
      </p:sp>
      <p:sp>
        <p:nvSpPr>
          <p:cNvPr id="15" name="TextBox 14"/>
          <p:cNvSpPr txBox="1"/>
          <p:nvPr/>
        </p:nvSpPr>
        <p:spPr>
          <a:xfrm>
            <a:off x="8092440" y="2103120"/>
            <a:ext cx="1920240" cy="594360"/>
          </a:xfrm>
          <a:prstGeom prst="rect">
            <a:avLst/>
          </a:prstGeom>
          <a:noFill/>
        </p:spPr>
        <p:txBody>
          <a:bodyPr wrap="square">
            <a:spAutoFit/>
          </a:bodyPr>
          <a:lstStyle/>
          <a:p>
            <a:pPr algn="ctr"/>
            <a:r>
              <a:rPr sz="1100" b="0" i="0">
                <a:solidFill>
                  <a:srgbClr val="FFFFFF"/>
                </a:solidFill>
                <a:latin typeface="Calibri"/>
              </a:rPr>
              <a:t>Travel Records
3 Datasets</a:t>
            </a:r>
          </a:p>
        </p:txBody>
      </p:sp>
      <p:sp>
        <p:nvSpPr>
          <p:cNvPr id="16" name="Rounded Rectangle 15"/>
          <p:cNvSpPr/>
          <p:nvPr/>
        </p:nvSpPr>
        <p:spPr>
          <a:xfrm>
            <a:off x="10177271" y="123444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77271" y="1417320"/>
            <a:ext cx="1920240" cy="640080"/>
          </a:xfrm>
          <a:prstGeom prst="rect">
            <a:avLst/>
          </a:prstGeom>
          <a:noFill/>
        </p:spPr>
        <p:txBody>
          <a:bodyPr wrap="square">
            <a:spAutoFit/>
          </a:bodyPr>
          <a:lstStyle/>
          <a:p>
            <a:pPr algn="ctr"/>
            <a:r>
              <a:rPr sz="2600" b="1" i="0">
                <a:solidFill>
                  <a:srgbClr val="F59E0B"/>
                </a:solidFill>
                <a:latin typeface="Calibri"/>
              </a:rPr>
              <a:t>3</a:t>
            </a:r>
          </a:p>
        </p:txBody>
      </p:sp>
      <p:sp>
        <p:nvSpPr>
          <p:cNvPr id="18" name="TextBox 17"/>
          <p:cNvSpPr txBox="1"/>
          <p:nvPr/>
        </p:nvSpPr>
        <p:spPr>
          <a:xfrm>
            <a:off x="10177271" y="2103120"/>
            <a:ext cx="1920240" cy="594360"/>
          </a:xfrm>
          <a:prstGeom prst="rect">
            <a:avLst/>
          </a:prstGeom>
          <a:noFill/>
        </p:spPr>
        <p:txBody>
          <a:bodyPr wrap="square">
            <a:spAutoFit/>
          </a:bodyPr>
          <a:lstStyle/>
          <a:p>
            <a:pPr algn="ctr"/>
            <a:r>
              <a:rPr sz="1100" b="0" i="0">
                <a:solidFill>
                  <a:srgbClr val="FFFFFF"/>
                </a:solidFill>
                <a:latin typeface="Calibri"/>
              </a:rPr>
              <a:t>ML Models
Built &amp; Deployed</a:t>
            </a:r>
          </a:p>
        </p:txBody>
      </p:sp>
      <p:sp>
        <p:nvSpPr>
          <p:cNvPr id="19" name="Rounded Rectangle 18"/>
          <p:cNvSpPr/>
          <p:nvPr/>
        </p:nvSpPr>
        <p:spPr>
          <a:xfrm>
            <a:off x="8092440" y="315468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92440" y="3337560"/>
            <a:ext cx="1920240" cy="640080"/>
          </a:xfrm>
          <a:prstGeom prst="rect">
            <a:avLst/>
          </a:prstGeom>
          <a:noFill/>
        </p:spPr>
        <p:txBody>
          <a:bodyPr wrap="square">
            <a:spAutoFit/>
          </a:bodyPr>
          <a:lstStyle/>
          <a:p>
            <a:pPr algn="ctr"/>
            <a:r>
              <a:rPr sz="2600" b="1" i="0">
                <a:solidFill>
                  <a:srgbClr val="F59E0B"/>
                </a:solidFill>
                <a:latin typeface="Calibri"/>
              </a:rPr>
              <a:t>R²≈1</a:t>
            </a:r>
          </a:p>
        </p:txBody>
      </p:sp>
      <p:sp>
        <p:nvSpPr>
          <p:cNvPr id="21" name="TextBox 20"/>
          <p:cNvSpPr txBox="1"/>
          <p:nvPr/>
        </p:nvSpPr>
        <p:spPr>
          <a:xfrm>
            <a:off x="8092440" y="4023360"/>
            <a:ext cx="1920240" cy="594360"/>
          </a:xfrm>
          <a:prstGeom prst="rect">
            <a:avLst/>
          </a:prstGeom>
          <a:noFill/>
        </p:spPr>
        <p:txBody>
          <a:bodyPr wrap="square">
            <a:spAutoFit/>
          </a:bodyPr>
          <a:lstStyle/>
          <a:p>
            <a:pPr algn="ctr"/>
            <a:r>
              <a:rPr sz="1100" b="0" i="0">
                <a:solidFill>
                  <a:srgbClr val="FFFFFF"/>
                </a:solidFill>
                <a:latin typeface="Calibri"/>
              </a:rPr>
              <a:t>Price Prediction
Random Forest</a:t>
            </a:r>
          </a:p>
        </p:txBody>
      </p:sp>
      <p:sp>
        <p:nvSpPr>
          <p:cNvPr id="22" name="Rounded Rectangle 21"/>
          <p:cNvSpPr/>
          <p:nvPr/>
        </p:nvSpPr>
        <p:spPr>
          <a:xfrm>
            <a:off x="10177271" y="3154680"/>
            <a:ext cx="1920240" cy="1664208"/>
          </a:xfrm>
          <a:prstGeom prst="roundRect">
            <a:avLst>
              <a:gd name="adj" fmla="val 6000"/>
            </a:avLst>
          </a:prstGeom>
          <a:solidFill>
            <a:srgbClr val="266B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177271" y="3337560"/>
            <a:ext cx="1920240" cy="640080"/>
          </a:xfrm>
          <a:prstGeom prst="rect">
            <a:avLst/>
          </a:prstGeom>
          <a:noFill/>
        </p:spPr>
        <p:txBody>
          <a:bodyPr wrap="square">
            <a:spAutoFit/>
          </a:bodyPr>
          <a:lstStyle/>
          <a:p>
            <a:pPr algn="ctr"/>
            <a:r>
              <a:rPr sz="2600" b="1" i="0">
                <a:solidFill>
                  <a:srgbClr val="F59E0B"/>
                </a:solidFill>
                <a:latin typeface="Calibri"/>
              </a:rPr>
              <a:t>MLOps</a:t>
            </a:r>
          </a:p>
        </p:txBody>
      </p:sp>
      <p:sp>
        <p:nvSpPr>
          <p:cNvPr id="24" name="TextBox 23"/>
          <p:cNvSpPr txBox="1"/>
          <p:nvPr/>
        </p:nvSpPr>
        <p:spPr>
          <a:xfrm>
            <a:off x="10177271" y="4023360"/>
            <a:ext cx="1920240" cy="594360"/>
          </a:xfrm>
          <a:prstGeom prst="rect">
            <a:avLst/>
          </a:prstGeom>
          <a:noFill/>
        </p:spPr>
        <p:txBody>
          <a:bodyPr wrap="square">
            <a:spAutoFit/>
          </a:bodyPr>
          <a:lstStyle/>
          <a:p>
            <a:pPr algn="ctr"/>
            <a:r>
              <a:rPr sz="1100" b="0" i="0">
                <a:solidFill>
                  <a:srgbClr val="FFFFFF"/>
                </a:solidFill>
                <a:latin typeface="Calibri"/>
              </a:rPr>
              <a:t>Airflow · MLflow
Docker · Streamlit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Presentation Agenda</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8" name="Rounded Rectangle 7"/>
          <p:cNvSpPr/>
          <p:nvPr/>
        </p:nvSpPr>
        <p:spPr>
          <a:xfrm>
            <a:off x="365760" y="1282850"/>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346858"/>
            <a:ext cx="438912" cy="274320"/>
          </a:xfrm>
          <a:prstGeom prst="rect">
            <a:avLst/>
          </a:prstGeom>
          <a:noFill/>
        </p:spPr>
        <p:txBody>
          <a:bodyPr wrap="square">
            <a:spAutoFit/>
          </a:bodyPr>
          <a:lstStyle/>
          <a:p>
            <a:pPr algn="ctr"/>
            <a:r>
              <a:rPr sz="1100" b="1" i="0">
                <a:solidFill>
                  <a:srgbClr val="FFFFFF"/>
                </a:solidFill>
                <a:latin typeface="Calibri"/>
              </a:rPr>
              <a:t>01</a:t>
            </a:r>
          </a:p>
        </p:txBody>
      </p:sp>
      <p:sp>
        <p:nvSpPr>
          <p:cNvPr id="10" name="TextBox 9"/>
          <p:cNvSpPr txBox="1"/>
          <p:nvPr/>
        </p:nvSpPr>
        <p:spPr>
          <a:xfrm>
            <a:off x="932688" y="1365146"/>
            <a:ext cx="10881360" cy="274320"/>
          </a:xfrm>
          <a:prstGeom prst="rect">
            <a:avLst/>
          </a:prstGeom>
          <a:noFill/>
        </p:spPr>
        <p:txBody>
          <a:bodyPr wrap="square">
            <a:spAutoFit/>
          </a:bodyPr>
          <a:lstStyle/>
          <a:p>
            <a:pPr algn="l"/>
            <a:r>
              <a:rPr sz="1400" b="0" i="0">
                <a:solidFill>
                  <a:srgbClr val="212121"/>
                </a:solidFill>
                <a:latin typeface="Calibri"/>
              </a:rPr>
              <a:t>Project Overview &amp; Business Problem</a:t>
            </a:r>
          </a:p>
        </p:txBody>
      </p:sp>
      <p:sp>
        <p:nvSpPr>
          <p:cNvPr id="11" name="Rounded Rectangle 10"/>
          <p:cNvSpPr/>
          <p:nvPr/>
        </p:nvSpPr>
        <p:spPr>
          <a:xfrm>
            <a:off x="365760" y="1813202"/>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77210"/>
            <a:ext cx="438912" cy="274320"/>
          </a:xfrm>
          <a:prstGeom prst="rect">
            <a:avLst/>
          </a:prstGeom>
          <a:noFill/>
        </p:spPr>
        <p:txBody>
          <a:bodyPr wrap="square">
            <a:spAutoFit/>
          </a:bodyPr>
          <a:lstStyle/>
          <a:p>
            <a:pPr algn="ctr"/>
            <a:r>
              <a:rPr sz="1100" b="1" i="0">
                <a:solidFill>
                  <a:srgbClr val="FFFFFF"/>
                </a:solidFill>
                <a:latin typeface="Calibri"/>
              </a:rPr>
              <a:t>02</a:t>
            </a:r>
          </a:p>
        </p:txBody>
      </p:sp>
      <p:sp>
        <p:nvSpPr>
          <p:cNvPr id="13" name="TextBox 12"/>
          <p:cNvSpPr txBox="1"/>
          <p:nvPr/>
        </p:nvSpPr>
        <p:spPr>
          <a:xfrm>
            <a:off x="932688" y="1895498"/>
            <a:ext cx="10881360" cy="274320"/>
          </a:xfrm>
          <a:prstGeom prst="rect">
            <a:avLst/>
          </a:prstGeom>
          <a:noFill/>
        </p:spPr>
        <p:txBody>
          <a:bodyPr wrap="square">
            <a:spAutoFit/>
          </a:bodyPr>
          <a:lstStyle/>
          <a:p>
            <a:pPr algn="l"/>
            <a:r>
              <a:rPr sz="1400" b="0" i="0">
                <a:solidFill>
                  <a:srgbClr val="212121"/>
                </a:solidFill>
                <a:latin typeface="Calibri"/>
              </a:rPr>
              <a:t>Dataset Overview — Users, Hotels, Flights (271,888 rows)</a:t>
            </a:r>
          </a:p>
        </p:txBody>
      </p:sp>
      <p:sp>
        <p:nvSpPr>
          <p:cNvPr id="14" name="Rounded Rectangle 13"/>
          <p:cNvSpPr/>
          <p:nvPr/>
        </p:nvSpPr>
        <p:spPr>
          <a:xfrm>
            <a:off x="365760" y="2343554"/>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2407562"/>
            <a:ext cx="438912" cy="274320"/>
          </a:xfrm>
          <a:prstGeom prst="rect">
            <a:avLst/>
          </a:prstGeom>
          <a:noFill/>
        </p:spPr>
        <p:txBody>
          <a:bodyPr wrap="square">
            <a:spAutoFit/>
          </a:bodyPr>
          <a:lstStyle/>
          <a:p>
            <a:pPr algn="ctr"/>
            <a:r>
              <a:rPr sz="1100" b="1" i="0">
                <a:solidFill>
                  <a:srgbClr val="FFFFFF"/>
                </a:solidFill>
                <a:latin typeface="Calibri"/>
              </a:rPr>
              <a:t>03</a:t>
            </a:r>
          </a:p>
        </p:txBody>
      </p:sp>
      <p:sp>
        <p:nvSpPr>
          <p:cNvPr id="16" name="TextBox 15"/>
          <p:cNvSpPr txBox="1"/>
          <p:nvPr/>
        </p:nvSpPr>
        <p:spPr>
          <a:xfrm>
            <a:off x="932688" y="2425850"/>
            <a:ext cx="10881360" cy="274320"/>
          </a:xfrm>
          <a:prstGeom prst="rect">
            <a:avLst/>
          </a:prstGeom>
          <a:noFill/>
        </p:spPr>
        <p:txBody>
          <a:bodyPr wrap="square">
            <a:spAutoFit/>
          </a:bodyPr>
          <a:lstStyle/>
          <a:p>
            <a:pPr algn="l"/>
            <a:r>
              <a:rPr sz="1400" b="0" i="0">
                <a:solidFill>
                  <a:srgbClr val="212121"/>
                </a:solidFill>
                <a:latin typeface="Calibri"/>
              </a:rPr>
              <a:t>EDA: Flight Routes, Pricing &amp; Distributions</a:t>
            </a:r>
          </a:p>
        </p:txBody>
      </p:sp>
      <p:sp>
        <p:nvSpPr>
          <p:cNvPr id="17" name="Rounded Rectangle 16"/>
          <p:cNvSpPr/>
          <p:nvPr/>
        </p:nvSpPr>
        <p:spPr>
          <a:xfrm>
            <a:off x="365760" y="2873906"/>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2937914"/>
            <a:ext cx="438912" cy="274320"/>
          </a:xfrm>
          <a:prstGeom prst="rect">
            <a:avLst/>
          </a:prstGeom>
          <a:noFill/>
        </p:spPr>
        <p:txBody>
          <a:bodyPr wrap="square">
            <a:spAutoFit/>
          </a:bodyPr>
          <a:lstStyle/>
          <a:p>
            <a:pPr algn="ctr"/>
            <a:r>
              <a:rPr sz="1100" b="1" i="0">
                <a:solidFill>
                  <a:srgbClr val="FFFFFF"/>
                </a:solidFill>
                <a:latin typeface="Calibri"/>
              </a:rPr>
              <a:t>04</a:t>
            </a:r>
          </a:p>
        </p:txBody>
      </p:sp>
      <p:sp>
        <p:nvSpPr>
          <p:cNvPr id="19" name="TextBox 18"/>
          <p:cNvSpPr txBox="1"/>
          <p:nvPr/>
        </p:nvSpPr>
        <p:spPr>
          <a:xfrm>
            <a:off x="932688" y="2956202"/>
            <a:ext cx="10881360" cy="274320"/>
          </a:xfrm>
          <a:prstGeom prst="rect">
            <a:avLst/>
          </a:prstGeom>
          <a:noFill/>
        </p:spPr>
        <p:txBody>
          <a:bodyPr wrap="square">
            <a:spAutoFit/>
          </a:bodyPr>
          <a:lstStyle/>
          <a:p>
            <a:pPr algn="l"/>
            <a:r>
              <a:rPr sz="1400" b="0" i="0">
                <a:solidFill>
                  <a:srgbClr val="212121"/>
                </a:solidFill>
                <a:latin typeface="Calibri"/>
              </a:rPr>
              <a:t>EDA: Correlations, Age, Agency Analysis</a:t>
            </a:r>
          </a:p>
        </p:txBody>
      </p:sp>
      <p:sp>
        <p:nvSpPr>
          <p:cNvPr id="20" name="Rounded Rectangle 19"/>
          <p:cNvSpPr/>
          <p:nvPr/>
        </p:nvSpPr>
        <p:spPr>
          <a:xfrm>
            <a:off x="365760" y="3404258"/>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3468266"/>
            <a:ext cx="438912" cy="274320"/>
          </a:xfrm>
          <a:prstGeom prst="rect">
            <a:avLst/>
          </a:prstGeom>
          <a:noFill/>
        </p:spPr>
        <p:txBody>
          <a:bodyPr wrap="square">
            <a:spAutoFit/>
          </a:bodyPr>
          <a:lstStyle/>
          <a:p>
            <a:pPr algn="ctr"/>
            <a:r>
              <a:rPr sz="1100" b="1" i="0">
                <a:solidFill>
                  <a:srgbClr val="FFFFFF"/>
                </a:solidFill>
                <a:latin typeface="Calibri"/>
              </a:rPr>
              <a:t>05</a:t>
            </a:r>
          </a:p>
        </p:txBody>
      </p:sp>
      <p:sp>
        <p:nvSpPr>
          <p:cNvPr id="22" name="TextBox 21"/>
          <p:cNvSpPr txBox="1"/>
          <p:nvPr/>
        </p:nvSpPr>
        <p:spPr>
          <a:xfrm>
            <a:off x="932688" y="3486554"/>
            <a:ext cx="10881360" cy="274320"/>
          </a:xfrm>
          <a:prstGeom prst="rect">
            <a:avLst/>
          </a:prstGeom>
          <a:noFill/>
        </p:spPr>
        <p:txBody>
          <a:bodyPr wrap="square">
            <a:spAutoFit/>
          </a:bodyPr>
          <a:lstStyle/>
          <a:p>
            <a:pPr algn="l"/>
            <a:r>
              <a:rPr sz="1400" b="0" i="0">
                <a:solidFill>
                  <a:srgbClr val="212121"/>
                </a:solidFill>
                <a:latin typeface="Calibri"/>
              </a:rPr>
              <a:t>Data Wrangling &amp; Feature Engineering</a:t>
            </a:r>
          </a:p>
        </p:txBody>
      </p:sp>
      <p:sp>
        <p:nvSpPr>
          <p:cNvPr id="23" name="Rounded Rectangle 22"/>
          <p:cNvSpPr/>
          <p:nvPr/>
        </p:nvSpPr>
        <p:spPr>
          <a:xfrm>
            <a:off x="365760" y="3934610"/>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3998618"/>
            <a:ext cx="438912" cy="274320"/>
          </a:xfrm>
          <a:prstGeom prst="rect">
            <a:avLst/>
          </a:prstGeom>
          <a:noFill/>
        </p:spPr>
        <p:txBody>
          <a:bodyPr wrap="square">
            <a:spAutoFit/>
          </a:bodyPr>
          <a:lstStyle/>
          <a:p>
            <a:pPr algn="ctr"/>
            <a:r>
              <a:rPr sz="1100" b="1" i="0">
                <a:solidFill>
                  <a:srgbClr val="FFFFFF"/>
                </a:solidFill>
                <a:latin typeface="Calibri"/>
              </a:rPr>
              <a:t>06</a:t>
            </a:r>
          </a:p>
        </p:txBody>
      </p:sp>
      <p:sp>
        <p:nvSpPr>
          <p:cNvPr id="25" name="TextBox 24"/>
          <p:cNvSpPr txBox="1"/>
          <p:nvPr/>
        </p:nvSpPr>
        <p:spPr>
          <a:xfrm>
            <a:off x="932688" y="4016906"/>
            <a:ext cx="10881360" cy="274320"/>
          </a:xfrm>
          <a:prstGeom prst="rect">
            <a:avLst/>
          </a:prstGeom>
          <a:noFill/>
        </p:spPr>
        <p:txBody>
          <a:bodyPr wrap="square">
            <a:spAutoFit/>
          </a:bodyPr>
          <a:lstStyle/>
          <a:p>
            <a:pPr algn="l"/>
            <a:r>
              <a:rPr sz="1400" b="0" i="0">
                <a:solidFill>
                  <a:srgbClr val="212121"/>
                </a:solidFill>
                <a:latin typeface="Calibri"/>
              </a:rPr>
              <a:t>Outlier Detection &amp; Data Scaling</a:t>
            </a:r>
          </a:p>
        </p:txBody>
      </p:sp>
      <p:sp>
        <p:nvSpPr>
          <p:cNvPr id="26" name="Rounded Rectangle 25"/>
          <p:cNvSpPr/>
          <p:nvPr/>
        </p:nvSpPr>
        <p:spPr>
          <a:xfrm>
            <a:off x="365760" y="4464962"/>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4528970"/>
            <a:ext cx="438912" cy="274320"/>
          </a:xfrm>
          <a:prstGeom prst="rect">
            <a:avLst/>
          </a:prstGeom>
          <a:noFill/>
        </p:spPr>
        <p:txBody>
          <a:bodyPr wrap="square">
            <a:spAutoFit/>
          </a:bodyPr>
          <a:lstStyle/>
          <a:p>
            <a:pPr algn="ctr"/>
            <a:r>
              <a:rPr sz="1100" b="1" i="0">
                <a:solidFill>
                  <a:srgbClr val="FFFFFF"/>
                </a:solidFill>
                <a:latin typeface="Calibri"/>
              </a:rPr>
              <a:t>07</a:t>
            </a:r>
          </a:p>
        </p:txBody>
      </p:sp>
      <p:sp>
        <p:nvSpPr>
          <p:cNvPr id="28" name="TextBox 27"/>
          <p:cNvSpPr txBox="1"/>
          <p:nvPr/>
        </p:nvSpPr>
        <p:spPr>
          <a:xfrm>
            <a:off x="932688" y="4547258"/>
            <a:ext cx="10881360" cy="274320"/>
          </a:xfrm>
          <a:prstGeom prst="rect">
            <a:avLst/>
          </a:prstGeom>
          <a:noFill/>
        </p:spPr>
        <p:txBody>
          <a:bodyPr wrap="square">
            <a:spAutoFit/>
          </a:bodyPr>
          <a:lstStyle/>
          <a:p>
            <a:pPr algn="l"/>
            <a:r>
              <a:rPr sz="1400" b="0" i="0">
                <a:solidFill>
                  <a:srgbClr val="212121"/>
                </a:solidFill>
                <a:latin typeface="Calibri"/>
              </a:rPr>
              <a:t>Model 1: Flight Price Prediction (Regression)</a:t>
            </a:r>
          </a:p>
        </p:txBody>
      </p:sp>
      <p:sp>
        <p:nvSpPr>
          <p:cNvPr id="29" name="Rounded Rectangle 28"/>
          <p:cNvSpPr/>
          <p:nvPr/>
        </p:nvSpPr>
        <p:spPr>
          <a:xfrm>
            <a:off x="365760" y="4995314"/>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65760" y="5059322"/>
            <a:ext cx="438912" cy="274320"/>
          </a:xfrm>
          <a:prstGeom prst="rect">
            <a:avLst/>
          </a:prstGeom>
          <a:noFill/>
        </p:spPr>
        <p:txBody>
          <a:bodyPr wrap="square">
            <a:spAutoFit/>
          </a:bodyPr>
          <a:lstStyle/>
          <a:p>
            <a:pPr algn="ctr"/>
            <a:r>
              <a:rPr sz="1100" b="1" i="0">
                <a:solidFill>
                  <a:srgbClr val="FFFFFF"/>
                </a:solidFill>
                <a:latin typeface="Calibri"/>
              </a:rPr>
              <a:t>08</a:t>
            </a:r>
          </a:p>
        </p:txBody>
      </p:sp>
      <p:sp>
        <p:nvSpPr>
          <p:cNvPr id="31" name="TextBox 30"/>
          <p:cNvSpPr txBox="1"/>
          <p:nvPr/>
        </p:nvSpPr>
        <p:spPr>
          <a:xfrm>
            <a:off x="932688" y="5077610"/>
            <a:ext cx="10881360" cy="274320"/>
          </a:xfrm>
          <a:prstGeom prst="rect">
            <a:avLst/>
          </a:prstGeom>
          <a:noFill/>
        </p:spPr>
        <p:txBody>
          <a:bodyPr wrap="square">
            <a:spAutoFit/>
          </a:bodyPr>
          <a:lstStyle/>
          <a:p>
            <a:pPr algn="l"/>
            <a:r>
              <a:rPr sz="1400" b="0" i="0">
                <a:solidFill>
                  <a:srgbClr val="212121"/>
                </a:solidFill>
                <a:latin typeface="Calibri"/>
              </a:rPr>
              <a:t>Model 2: Gender Classification (Sentence Transformers + PCA)</a:t>
            </a:r>
          </a:p>
        </p:txBody>
      </p:sp>
      <p:sp>
        <p:nvSpPr>
          <p:cNvPr id="32" name="Rounded Rectangle 31"/>
          <p:cNvSpPr/>
          <p:nvPr/>
        </p:nvSpPr>
        <p:spPr>
          <a:xfrm>
            <a:off x="365760" y="5525666"/>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5760" y="5589674"/>
            <a:ext cx="438912" cy="274320"/>
          </a:xfrm>
          <a:prstGeom prst="rect">
            <a:avLst/>
          </a:prstGeom>
          <a:noFill/>
        </p:spPr>
        <p:txBody>
          <a:bodyPr wrap="square">
            <a:spAutoFit/>
          </a:bodyPr>
          <a:lstStyle/>
          <a:p>
            <a:pPr algn="ctr"/>
            <a:r>
              <a:rPr sz="1100" b="1" i="0">
                <a:solidFill>
                  <a:srgbClr val="FFFFFF"/>
                </a:solidFill>
                <a:latin typeface="Calibri"/>
              </a:rPr>
              <a:t>09</a:t>
            </a:r>
          </a:p>
        </p:txBody>
      </p:sp>
      <p:sp>
        <p:nvSpPr>
          <p:cNvPr id="34" name="TextBox 33"/>
          <p:cNvSpPr txBox="1"/>
          <p:nvPr/>
        </p:nvSpPr>
        <p:spPr>
          <a:xfrm>
            <a:off x="932688" y="5607962"/>
            <a:ext cx="10881360" cy="274320"/>
          </a:xfrm>
          <a:prstGeom prst="rect">
            <a:avLst/>
          </a:prstGeom>
          <a:noFill/>
        </p:spPr>
        <p:txBody>
          <a:bodyPr wrap="square">
            <a:spAutoFit/>
          </a:bodyPr>
          <a:lstStyle/>
          <a:p>
            <a:pPr algn="l"/>
            <a:r>
              <a:rPr sz="1400" b="0" i="0">
                <a:solidFill>
                  <a:srgbClr val="212121"/>
                </a:solidFill>
                <a:latin typeface="Calibri"/>
              </a:rPr>
              <a:t>Model 3: Hotel Recommendation Engine (Content-Based Filtering)</a:t>
            </a:r>
          </a:p>
        </p:txBody>
      </p:sp>
      <p:sp>
        <p:nvSpPr>
          <p:cNvPr id="35" name="Rounded Rectangle 34"/>
          <p:cNvSpPr/>
          <p:nvPr/>
        </p:nvSpPr>
        <p:spPr>
          <a:xfrm>
            <a:off x="365760" y="6056018"/>
            <a:ext cx="438912" cy="402336"/>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6120026"/>
            <a:ext cx="438912" cy="274320"/>
          </a:xfrm>
          <a:prstGeom prst="rect">
            <a:avLst/>
          </a:prstGeom>
          <a:noFill/>
        </p:spPr>
        <p:txBody>
          <a:bodyPr wrap="square">
            <a:spAutoFit/>
          </a:bodyPr>
          <a:lstStyle/>
          <a:p>
            <a:pPr algn="ctr"/>
            <a:r>
              <a:rPr sz="1100" b="1" i="0">
                <a:solidFill>
                  <a:srgbClr val="FFFFFF"/>
                </a:solidFill>
                <a:latin typeface="Calibri"/>
              </a:rPr>
              <a:t>10</a:t>
            </a:r>
          </a:p>
        </p:txBody>
      </p:sp>
      <p:sp>
        <p:nvSpPr>
          <p:cNvPr id="37" name="TextBox 36"/>
          <p:cNvSpPr txBox="1"/>
          <p:nvPr/>
        </p:nvSpPr>
        <p:spPr>
          <a:xfrm>
            <a:off x="932688" y="6138314"/>
            <a:ext cx="10881360" cy="274320"/>
          </a:xfrm>
          <a:prstGeom prst="rect">
            <a:avLst/>
          </a:prstGeom>
          <a:noFill/>
        </p:spPr>
        <p:txBody>
          <a:bodyPr wrap="square">
            <a:spAutoFit/>
          </a:bodyPr>
          <a:lstStyle/>
          <a:p>
            <a:pPr algn="l"/>
            <a:r>
              <a:rPr sz="1400" b="0" i="0">
                <a:solidFill>
                  <a:srgbClr val="212121"/>
                </a:solidFill>
                <a:latin typeface="Calibri"/>
              </a:rPr>
              <a:t>MLOps: MLflow Tracking, Docker &amp; Streamlit Deployment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Project Overview &amp; Business Problem</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8" name="Rounded Rectangle 7"/>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0" name="TextBox 9"/>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Build a production-grade ML system for the travel industry that predicts flight prices, classifies user gender from name, and recommends hotels — all deployed with MLOps best practices.</a:t>
            </a:r>
          </a:p>
        </p:txBody>
      </p:sp>
      <p:sp>
        <p:nvSpPr>
          <p:cNvPr id="11" name="Rounded Rectangle 10"/>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3" name="TextBox 12"/>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EDA → Feature Engineering → Regression + Classification + Recommendation → MLflow experiment tracking → Docker containerisation → Streamlit deployment</a:t>
            </a:r>
          </a:p>
        </p:txBody>
      </p:sp>
      <p:sp>
        <p:nvSpPr>
          <p:cNvPr id="14" name="Rectangle 13"/>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7472" y="2066544"/>
            <a:ext cx="5943600" cy="292608"/>
          </a:xfrm>
          <a:prstGeom prst="rect">
            <a:avLst/>
          </a:prstGeom>
          <a:noFill/>
        </p:spPr>
        <p:txBody>
          <a:bodyPr wrap="square">
            <a:spAutoFit/>
          </a:bodyPr>
          <a:lstStyle/>
          <a:p>
            <a:pPr algn="l"/>
            <a:r>
              <a:rPr sz="1600" b="1" i="0">
                <a:solidFill>
                  <a:srgbClr val="1D4F58"/>
                </a:solidFill>
                <a:latin typeface="Calibri"/>
              </a:rPr>
              <a:t>The Business Problem</a:t>
            </a:r>
          </a:p>
        </p:txBody>
      </p:sp>
      <p:sp>
        <p:nvSpPr>
          <p:cNvPr id="16" name="TextBox 15"/>
          <p:cNvSpPr txBox="1"/>
          <p:nvPr/>
        </p:nvSpPr>
        <p:spPr>
          <a:xfrm>
            <a:off x="347472" y="2414016"/>
            <a:ext cx="5852160" cy="960120"/>
          </a:xfrm>
          <a:prstGeom prst="rect">
            <a:avLst/>
          </a:prstGeom>
          <a:noFill/>
        </p:spPr>
        <p:txBody>
          <a:bodyPr wrap="square">
            <a:spAutoFit/>
          </a:bodyPr>
          <a:lstStyle/>
          <a:p>
            <a:pPr algn="l"/>
            <a:r>
              <a:rPr sz="1250" b="0" i="0">
                <a:solidFill>
                  <a:srgbClr val="212121"/>
                </a:solidFill>
                <a:latin typeface="Calibri"/>
              </a:rPr>
              <a:t>Travel platforms face three core challenges: (1) Flight prices are highly volatile — customers cannot predict costs, reducing booking confidence. (2) Personalised hotel recommendations require knowing user demographics, but not all users provide full profiles. (3) Operational teams need scalable, reproducible ML pipelines — not one-off notebooks. This project solves all three.</a:t>
            </a:r>
          </a:p>
        </p:txBody>
      </p:sp>
      <p:sp>
        <p:nvSpPr>
          <p:cNvPr id="17" name="Rounded Rectangle 16"/>
          <p:cNvSpPr/>
          <p:nvPr/>
        </p:nvSpPr>
        <p:spPr>
          <a:xfrm>
            <a:off x="6236208" y="2232210"/>
            <a:ext cx="5596128" cy="12984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8" y="2232210"/>
            <a:ext cx="5596128" cy="73152"/>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27648" y="2369370"/>
            <a:ext cx="2743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27648" y="2369370"/>
            <a:ext cx="274320" cy="274320"/>
          </a:xfrm>
          <a:prstGeom prst="rect">
            <a:avLst/>
          </a:prstGeom>
          <a:noFill/>
        </p:spPr>
        <p:txBody>
          <a:bodyPr wrap="square">
            <a:spAutoFit/>
          </a:bodyPr>
          <a:lstStyle/>
          <a:p>
            <a:pPr algn="ctr"/>
            <a:r>
              <a:rPr sz="1100" b="1" i="0">
                <a:solidFill>
                  <a:srgbClr val="FFFFFF"/>
                </a:solidFill>
                <a:latin typeface="Calibri"/>
              </a:rPr>
              <a:t>1</a:t>
            </a:r>
          </a:p>
        </p:txBody>
      </p:sp>
      <p:sp>
        <p:nvSpPr>
          <p:cNvPr id="21" name="TextBox 20"/>
          <p:cNvSpPr txBox="1"/>
          <p:nvPr/>
        </p:nvSpPr>
        <p:spPr>
          <a:xfrm>
            <a:off x="6693408" y="2396802"/>
            <a:ext cx="5029200" cy="256032"/>
          </a:xfrm>
          <a:prstGeom prst="rect">
            <a:avLst/>
          </a:prstGeom>
          <a:noFill/>
        </p:spPr>
        <p:txBody>
          <a:bodyPr wrap="square">
            <a:spAutoFit/>
          </a:bodyPr>
          <a:lstStyle/>
          <a:p>
            <a:pPr algn="l"/>
            <a:r>
              <a:rPr sz="1400" b="1" i="0">
                <a:solidFill>
                  <a:srgbClr val="1D4F58"/>
                </a:solidFill>
                <a:latin typeface="Calibri"/>
              </a:rPr>
              <a:t>Flight Price Prediction</a:t>
            </a:r>
          </a:p>
        </p:txBody>
      </p:sp>
      <p:sp>
        <p:nvSpPr>
          <p:cNvPr id="22" name="TextBox 21"/>
          <p:cNvSpPr txBox="1"/>
          <p:nvPr/>
        </p:nvSpPr>
        <p:spPr>
          <a:xfrm>
            <a:off x="6327648" y="2744274"/>
            <a:ext cx="5394960" cy="658368"/>
          </a:xfrm>
          <a:prstGeom prst="rect">
            <a:avLst/>
          </a:prstGeom>
          <a:noFill/>
        </p:spPr>
        <p:txBody>
          <a:bodyPr wrap="square">
            <a:spAutoFit/>
          </a:bodyPr>
          <a:lstStyle/>
          <a:p>
            <a:pPr algn="l"/>
            <a:r>
              <a:rPr sz="1150" b="0" i="0">
                <a:solidFill>
                  <a:srgbClr val="212121"/>
                </a:solidFill>
                <a:latin typeface="Calibri"/>
              </a:rPr>
              <a:t>Regression model to predict ticket price from route, distance, time, airline and user features. Enables dynamic pricing display on booking page.</a:t>
            </a:r>
          </a:p>
        </p:txBody>
      </p:sp>
      <p:sp>
        <p:nvSpPr>
          <p:cNvPr id="23" name="Rounded Rectangle 22"/>
          <p:cNvSpPr/>
          <p:nvPr/>
        </p:nvSpPr>
        <p:spPr>
          <a:xfrm>
            <a:off x="6236208" y="3649530"/>
            <a:ext cx="5596128" cy="12984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36208" y="3649530"/>
            <a:ext cx="5596128" cy="731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327648" y="3786690"/>
            <a:ext cx="274320" cy="274320"/>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27648" y="3786690"/>
            <a:ext cx="274320" cy="274320"/>
          </a:xfrm>
          <a:prstGeom prst="rect">
            <a:avLst/>
          </a:prstGeom>
          <a:noFill/>
        </p:spPr>
        <p:txBody>
          <a:bodyPr wrap="square">
            <a:spAutoFit/>
          </a:bodyPr>
          <a:lstStyle/>
          <a:p>
            <a:pPr algn="ctr"/>
            <a:r>
              <a:rPr sz="1100" b="1" i="0">
                <a:solidFill>
                  <a:srgbClr val="FFFFFF"/>
                </a:solidFill>
                <a:latin typeface="Calibri"/>
              </a:rPr>
              <a:t>2</a:t>
            </a:r>
          </a:p>
        </p:txBody>
      </p:sp>
      <p:sp>
        <p:nvSpPr>
          <p:cNvPr id="27" name="TextBox 26"/>
          <p:cNvSpPr txBox="1"/>
          <p:nvPr/>
        </p:nvSpPr>
        <p:spPr>
          <a:xfrm>
            <a:off x="6693408" y="3814122"/>
            <a:ext cx="5029200" cy="256032"/>
          </a:xfrm>
          <a:prstGeom prst="rect">
            <a:avLst/>
          </a:prstGeom>
          <a:noFill/>
        </p:spPr>
        <p:txBody>
          <a:bodyPr wrap="square">
            <a:spAutoFit/>
          </a:bodyPr>
          <a:lstStyle/>
          <a:p>
            <a:pPr algn="l"/>
            <a:r>
              <a:rPr sz="1400" b="1" i="0">
                <a:solidFill>
                  <a:srgbClr val="1565C0"/>
                </a:solidFill>
                <a:latin typeface="Calibri"/>
              </a:rPr>
              <a:t>Gender Classification</a:t>
            </a:r>
          </a:p>
        </p:txBody>
      </p:sp>
      <p:sp>
        <p:nvSpPr>
          <p:cNvPr id="28" name="TextBox 27"/>
          <p:cNvSpPr txBox="1"/>
          <p:nvPr/>
        </p:nvSpPr>
        <p:spPr>
          <a:xfrm>
            <a:off x="6327648" y="4161594"/>
            <a:ext cx="5394960" cy="658368"/>
          </a:xfrm>
          <a:prstGeom prst="rect">
            <a:avLst/>
          </a:prstGeom>
          <a:noFill/>
        </p:spPr>
        <p:txBody>
          <a:bodyPr wrap="square">
            <a:spAutoFit/>
          </a:bodyPr>
          <a:lstStyle/>
          <a:p>
            <a:pPr algn="l"/>
            <a:r>
              <a:rPr sz="1150" b="0" i="0">
                <a:solidFill>
                  <a:srgbClr val="212121"/>
                </a:solidFill>
                <a:latin typeface="Calibri"/>
              </a:rPr>
              <a:t>Predict user gender from name using Sentence Transformer embeddings + PCA + classification. Enables personalised UX without requiring form fields.</a:t>
            </a:r>
          </a:p>
        </p:txBody>
      </p:sp>
      <p:sp>
        <p:nvSpPr>
          <p:cNvPr id="29" name="Rounded Rectangle 28"/>
          <p:cNvSpPr/>
          <p:nvPr/>
        </p:nvSpPr>
        <p:spPr>
          <a:xfrm>
            <a:off x="6236208" y="5066850"/>
            <a:ext cx="5596128" cy="12984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36208" y="5066850"/>
            <a:ext cx="5596128"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327648" y="5204010"/>
            <a:ext cx="2743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27648" y="5204010"/>
            <a:ext cx="274320" cy="274320"/>
          </a:xfrm>
          <a:prstGeom prst="rect">
            <a:avLst/>
          </a:prstGeom>
          <a:noFill/>
        </p:spPr>
        <p:txBody>
          <a:bodyPr wrap="square">
            <a:spAutoFit/>
          </a:bodyPr>
          <a:lstStyle/>
          <a:p>
            <a:pPr algn="ctr"/>
            <a:r>
              <a:rPr sz="1100" b="1" i="0">
                <a:solidFill>
                  <a:srgbClr val="FFFFFF"/>
                </a:solidFill>
                <a:latin typeface="Calibri"/>
              </a:rPr>
              <a:t>3</a:t>
            </a:r>
          </a:p>
        </p:txBody>
      </p:sp>
      <p:sp>
        <p:nvSpPr>
          <p:cNvPr id="33" name="TextBox 32"/>
          <p:cNvSpPr txBox="1"/>
          <p:nvPr/>
        </p:nvSpPr>
        <p:spPr>
          <a:xfrm>
            <a:off x="6693408" y="5231442"/>
            <a:ext cx="5029200" cy="256032"/>
          </a:xfrm>
          <a:prstGeom prst="rect">
            <a:avLst/>
          </a:prstGeom>
          <a:noFill/>
        </p:spPr>
        <p:txBody>
          <a:bodyPr wrap="square">
            <a:spAutoFit/>
          </a:bodyPr>
          <a:lstStyle/>
          <a:p>
            <a:pPr algn="l"/>
            <a:r>
              <a:rPr sz="1400" b="1" i="0">
                <a:solidFill>
                  <a:srgbClr val="F59E0B"/>
                </a:solidFill>
                <a:latin typeface="Calibri"/>
              </a:rPr>
              <a:t>Hotel Recommendation</a:t>
            </a:r>
          </a:p>
        </p:txBody>
      </p:sp>
      <p:sp>
        <p:nvSpPr>
          <p:cNvPr id="34" name="TextBox 33"/>
          <p:cNvSpPr txBox="1"/>
          <p:nvPr/>
        </p:nvSpPr>
        <p:spPr>
          <a:xfrm>
            <a:off x="6327648" y="5578914"/>
            <a:ext cx="5394960" cy="658368"/>
          </a:xfrm>
          <a:prstGeom prst="rect">
            <a:avLst/>
          </a:prstGeom>
          <a:noFill/>
        </p:spPr>
        <p:txBody>
          <a:bodyPr wrap="square">
            <a:spAutoFit/>
          </a:bodyPr>
          <a:lstStyle/>
          <a:p>
            <a:pPr algn="l"/>
            <a:r>
              <a:rPr sz="1150" b="0" i="0">
                <a:solidFill>
                  <a:srgbClr val="212121"/>
                </a:solidFill>
                <a:latin typeface="Calibri"/>
              </a:rPr>
              <a:t>Content-based filtering engine that matches hotels to user trip profile (destination, budget, dates). Increases booking conversion rate.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Dataset Overview</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Three linked datasets: 271,888 travel booking records from a Brazilian travel platform</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604657"/>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Understand the structure and quality of the three source datasets before analysis — identify join keys, data types, missing values, and initial data quality concerns.</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pd.read_csv() + df.info() + df.isnull().sum() + df.describe() + df.duplicated().sum() on flights, users, and hotels dataframes; merged on travelCode/userCode keys</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82880" y="2398417"/>
            <a:ext cx="3749039" cy="4005072"/>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 y="2398417"/>
            <a:ext cx="3749039" cy="54864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74320" y="2434993"/>
            <a:ext cx="3566159" cy="292608"/>
          </a:xfrm>
          <a:prstGeom prst="rect">
            <a:avLst/>
          </a:prstGeom>
          <a:noFill/>
        </p:spPr>
        <p:txBody>
          <a:bodyPr wrap="square">
            <a:spAutoFit/>
          </a:bodyPr>
          <a:lstStyle/>
          <a:p>
            <a:pPr algn="l"/>
            <a:r>
              <a:rPr sz="1200" b="1" i="0">
                <a:solidFill>
                  <a:srgbClr val="FFFFFF"/>
                </a:solidFill>
                <a:latin typeface="Courier New"/>
              </a:rPr>
              <a:t>flights.csv</a:t>
            </a:r>
          </a:p>
        </p:txBody>
      </p:sp>
      <p:sp>
        <p:nvSpPr>
          <p:cNvPr id="19" name="TextBox 18"/>
          <p:cNvSpPr txBox="1"/>
          <p:nvPr/>
        </p:nvSpPr>
        <p:spPr>
          <a:xfrm>
            <a:off x="274320" y="2745889"/>
            <a:ext cx="3566159" cy="219456"/>
          </a:xfrm>
          <a:prstGeom prst="rect">
            <a:avLst/>
          </a:prstGeom>
          <a:noFill/>
        </p:spPr>
        <p:txBody>
          <a:bodyPr wrap="square">
            <a:spAutoFit/>
          </a:bodyPr>
          <a:lstStyle/>
          <a:p>
            <a:pPr algn="l"/>
            <a:r>
              <a:rPr sz="1000" b="0" i="0">
                <a:solidFill>
                  <a:srgbClr val="E8F4FD"/>
                </a:solidFill>
                <a:latin typeface="Calibri"/>
              </a:rPr>
              <a:t>Records: 271,888 | Cols: 11</a:t>
            </a:r>
          </a:p>
        </p:txBody>
      </p:sp>
      <p:sp>
        <p:nvSpPr>
          <p:cNvPr id="20" name="TextBox 19"/>
          <p:cNvSpPr txBox="1"/>
          <p:nvPr/>
        </p:nvSpPr>
        <p:spPr>
          <a:xfrm>
            <a:off x="292608" y="3038497"/>
            <a:ext cx="3547871" cy="347472"/>
          </a:xfrm>
          <a:prstGeom prst="rect">
            <a:avLst/>
          </a:prstGeom>
          <a:noFill/>
        </p:spPr>
        <p:txBody>
          <a:bodyPr wrap="square">
            <a:spAutoFit/>
          </a:bodyPr>
          <a:lstStyle/>
          <a:p>
            <a:pPr algn="l"/>
            <a:r>
              <a:rPr sz="1150" b="0" i="0">
                <a:solidFill>
                  <a:srgbClr val="212121"/>
                </a:solidFill>
                <a:latin typeface="Calibri"/>
              </a:rPr>
              <a:t>▸  travelCode — unique booking ID</a:t>
            </a:r>
          </a:p>
        </p:txBody>
      </p:sp>
      <p:sp>
        <p:nvSpPr>
          <p:cNvPr id="21" name="TextBox 20"/>
          <p:cNvSpPr txBox="1"/>
          <p:nvPr/>
        </p:nvSpPr>
        <p:spPr>
          <a:xfrm>
            <a:off x="292608" y="3404257"/>
            <a:ext cx="3547871" cy="347472"/>
          </a:xfrm>
          <a:prstGeom prst="rect">
            <a:avLst/>
          </a:prstGeom>
          <a:noFill/>
        </p:spPr>
        <p:txBody>
          <a:bodyPr wrap="square">
            <a:spAutoFit/>
          </a:bodyPr>
          <a:lstStyle/>
          <a:p>
            <a:pPr algn="l"/>
            <a:r>
              <a:rPr sz="1150" b="0" i="0">
                <a:solidFill>
                  <a:srgbClr val="212121"/>
                </a:solidFill>
                <a:latin typeface="Calibri"/>
              </a:rPr>
              <a:t>▸  from → to — origin &amp; destination</a:t>
            </a:r>
          </a:p>
        </p:txBody>
      </p:sp>
      <p:sp>
        <p:nvSpPr>
          <p:cNvPr id="22" name="TextBox 21"/>
          <p:cNvSpPr txBox="1"/>
          <p:nvPr/>
        </p:nvSpPr>
        <p:spPr>
          <a:xfrm>
            <a:off x="292608" y="3770017"/>
            <a:ext cx="3547871" cy="347472"/>
          </a:xfrm>
          <a:prstGeom prst="rect">
            <a:avLst/>
          </a:prstGeom>
          <a:noFill/>
        </p:spPr>
        <p:txBody>
          <a:bodyPr wrap="square">
            <a:spAutoFit/>
          </a:bodyPr>
          <a:lstStyle/>
          <a:p>
            <a:pPr algn="l"/>
            <a:r>
              <a:rPr sz="1150" b="0" i="0">
                <a:solidFill>
                  <a:srgbClr val="212121"/>
                </a:solidFill>
                <a:latin typeface="Calibri"/>
              </a:rPr>
              <a:t>▸  flightType — first/economic/premium</a:t>
            </a:r>
          </a:p>
        </p:txBody>
      </p:sp>
      <p:sp>
        <p:nvSpPr>
          <p:cNvPr id="23" name="TextBox 22"/>
          <p:cNvSpPr txBox="1"/>
          <p:nvPr/>
        </p:nvSpPr>
        <p:spPr>
          <a:xfrm>
            <a:off x="292608" y="4135777"/>
            <a:ext cx="3547871" cy="347472"/>
          </a:xfrm>
          <a:prstGeom prst="rect">
            <a:avLst/>
          </a:prstGeom>
          <a:noFill/>
        </p:spPr>
        <p:txBody>
          <a:bodyPr wrap="square">
            <a:spAutoFit/>
          </a:bodyPr>
          <a:lstStyle/>
          <a:p>
            <a:pPr algn="l"/>
            <a:r>
              <a:rPr sz="1150" b="0" i="0">
                <a:solidFill>
                  <a:srgbClr val="212121"/>
                </a:solidFill>
                <a:latin typeface="Calibri"/>
              </a:rPr>
              <a:t>▸  price — ticket price (TARGET for regression)</a:t>
            </a:r>
          </a:p>
        </p:txBody>
      </p:sp>
      <p:sp>
        <p:nvSpPr>
          <p:cNvPr id="24" name="TextBox 23"/>
          <p:cNvSpPr txBox="1"/>
          <p:nvPr/>
        </p:nvSpPr>
        <p:spPr>
          <a:xfrm>
            <a:off x="292608" y="4501537"/>
            <a:ext cx="3547871" cy="347472"/>
          </a:xfrm>
          <a:prstGeom prst="rect">
            <a:avLst/>
          </a:prstGeom>
          <a:noFill/>
        </p:spPr>
        <p:txBody>
          <a:bodyPr wrap="square">
            <a:spAutoFit/>
          </a:bodyPr>
          <a:lstStyle/>
          <a:p>
            <a:pPr algn="l"/>
            <a:r>
              <a:rPr sz="1150" b="0" i="0">
                <a:solidFill>
                  <a:srgbClr val="212121"/>
                </a:solidFill>
                <a:latin typeface="Calibri"/>
              </a:rPr>
              <a:t>▸  time — flight duration (hours)</a:t>
            </a:r>
          </a:p>
        </p:txBody>
      </p:sp>
      <p:sp>
        <p:nvSpPr>
          <p:cNvPr id="25" name="TextBox 24"/>
          <p:cNvSpPr txBox="1"/>
          <p:nvPr/>
        </p:nvSpPr>
        <p:spPr>
          <a:xfrm>
            <a:off x="292608" y="4867297"/>
            <a:ext cx="3547871" cy="347472"/>
          </a:xfrm>
          <a:prstGeom prst="rect">
            <a:avLst/>
          </a:prstGeom>
          <a:noFill/>
        </p:spPr>
        <p:txBody>
          <a:bodyPr wrap="square">
            <a:spAutoFit/>
          </a:bodyPr>
          <a:lstStyle/>
          <a:p>
            <a:pPr algn="l"/>
            <a:r>
              <a:rPr sz="1150" b="0" i="0">
                <a:solidFill>
                  <a:srgbClr val="212121"/>
                </a:solidFill>
                <a:latin typeface="Calibri"/>
              </a:rPr>
              <a:t>▸  distance — route distance (km)</a:t>
            </a:r>
          </a:p>
        </p:txBody>
      </p:sp>
      <p:sp>
        <p:nvSpPr>
          <p:cNvPr id="26" name="TextBox 25"/>
          <p:cNvSpPr txBox="1"/>
          <p:nvPr/>
        </p:nvSpPr>
        <p:spPr>
          <a:xfrm>
            <a:off x="292608" y="5233057"/>
            <a:ext cx="3547871" cy="347472"/>
          </a:xfrm>
          <a:prstGeom prst="rect">
            <a:avLst/>
          </a:prstGeom>
          <a:noFill/>
        </p:spPr>
        <p:txBody>
          <a:bodyPr wrap="square">
            <a:spAutoFit/>
          </a:bodyPr>
          <a:lstStyle/>
          <a:p>
            <a:pPr algn="l"/>
            <a:r>
              <a:rPr sz="1150" b="0" i="0">
                <a:solidFill>
                  <a:srgbClr val="212121"/>
                </a:solidFill>
                <a:latin typeface="Calibri"/>
              </a:rPr>
              <a:t>▸  agency — booking agency</a:t>
            </a:r>
          </a:p>
        </p:txBody>
      </p:sp>
      <p:sp>
        <p:nvSpPr>
          <p:cNvPr id="27" name="Rectangle 26"/>
          <p:cNvSpPr/>
          <p:nvPr/>
        </p:nvSpPr>
        <p:spPr>
          <a:xfrm>
            <a:off x="256032" y="6067313"/>
            <a:ext cx="3602735" cy="18288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2608" y="6058169"/>
            <a:ext cx="3547871" cy="384721"/>
          </a:xfrm>
          <a:prstGeom prst="rect">
            <a:avLst/>
          </a:prstGeom>
          <a:noFill/>
        </p:spPr>
        <p:txBody>
          <a:bodyPr wrap="square">
            <a:spAutoFit/>
          </a:bodyPr>
          <a:lstStyle/>
          <a:p>
            <a:pPr algn="l"/>
            <a:r>
              <a:rPr sz="950" b="1" i="0" dirty="0">
                <a:solidFill>
                  <a:srgbClr val="FFFFFF"/>
                </a:solidFill>
                <a:latin typeface="Calibri"/>
              </a:rPr>
              <a:t>Strong positive correlation: price ~ distance (~0.64)
</a:t>
            </a:r>
            <a:r>
              <a:rPr sz="950" b="1" i="0" dirty="0">
                <a:latin typeface="Calibri"/>
              </a:rPr>
              <a:t>time &amp; distance perfectly correlated (r=1.0)</a:t>
            </a:r>
          </a:p>
        </p:txBody>
      </p:sp>
      <p:sp>
        <p:nvSpPr>
          <p:cNvPr id="29" name="Rectangle 28"/>
          <p:cNvSpPr/>
          <p:nvPr/>
        </p:nvSpPr>
        <p:spPr>
          <a:xfrm>
            <a:off x="4069079" y="2398417"/>
            <a:ext cx="3749039" cy="4005072"/>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069079" y="2398417"/>
            <a:ext cx="3749039" cy="5486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60519" y="2434993"/>
            <a:ext cx="3566159" cy="292608"/>
          </a:xfrm>
          <a:prstGeom prst="rect">
            <a:avLst/>
          </a:prstGeom>
          <a:noFill/>
        </p:spPr>
        <p:txBody>
          <a:bodyPr wrap="square">
            <a:spAutoFit/>
          </a:bodyPr>
          <a:lstStyle/>
          <a:p>
            <a:pPr algn="l"/>
            <a:r>
              <a:rPr sz="1200" b="1" i="0">
                <a:solidFill>
                  <a:srgbClr val="FFFFFF"/>
                </a:solidFill>
                <a:latin typeface="Courier New"/>
              </a:rPr>
              <a:t>users.csv</a:t>
            </a:r>
          </a:p>
        </p:txBody>
      </p:sp>
      <p:sp>
        <p:nvSpPr>
          <p:cNvPr id="32" name="TextBox 31"/>
          <p:cNvSpPr txBox="1"/>
          <p:nvPr/>
        </p:nvSpPr>
        <p:spPr>
          <a:xfrm>
            <a:off x="4160519" y="2745889"/>
            <a:ext cx="3566159" cy="219456"/>
          </a:xfrm>
          <a:prstGeom prst="rect">
            <a:avLst/>
          </a:prstGeom>
          <a:noFill/>
        </p:spPr>
        <p:txBody>
          <a:bodyPr wrap="square">
            <a:spAutoFit/>
          </a:bodyPr>
          <a:lstStyle/>
          <a:p>
            <a:pPr algn="l"/>
            <a:r>
              <a:rPr sz="1000" b="0" i="0">
                <a:solidFill>
                  <a:srgbClr val="E8F4FD"/>
                </a:solidFill>
                <a:latin typeface="Calibri"/>
              </a:rPr>
              <a:t>Records: 271,888 | Cols: 5</a:t>
            </a:r>
          </a:p>
        </p:txBody>
      </p:sp>
      <p:sp>
        <p:nvSpPr>
          <p:cNvPr id="33" name="TextBox 32"/>
          <p:cNvSpPr txBox="1"/>
          <p:nvPr/>
        </p:nvSpPr>
        <p:spPr>
          <a:xfrm>
            <a:off x="4178807" y="3038497"/>
            <a:ext cx="3547871" cy="347472"/>
          </a:xfrm>
          <a:prstGeom prst="rect">
            <a:avLst/>
          </a:prstGeom>
          <a:noFill/>
        </p:spPr>
        <p:txBody>
          <a:bodyPr wrap="square">
            <a:spAutoFit/>
          </a:bodyPr>
          <a:lstStyle/>
          <a:p>
            <a:pPr algn="l"/>
            <a:r>
              <a:rPr sz="1150" b="0" i="0">
                <a:solidFill>
                  <a:srgbClr val="212121"/>
                </a:solidFill>
                <a:latin typeface="Calibri"/>
              </a:rPr>
              <a:t>▸  userCode — unique user ID</a:t>
            </a:r>
          </a:p>
        </p:txBody>
      </p:sp>
      <p:sp>
        <p:nvSpPr>
          <p:cNvPr id="34" name="TextBox 33"/>
          <p:cNvSpPr txBox="1"/>
          <p:nvPr/>
        </p:nvSpPr>
        <p:spPr>
          <a:xfrm>
            <a:off x="4178807" y="3404257"/>
            <a:ext cx="3547871" cy="347472"/>
          </a:xfrm>
          <a:prstGeom prst="rect">
            <a:avLst/>
          </a:prstGeom>
          <a:noFill/>
        </p:spPr>
        <p:txBody>
          <a:bodyPr wrap="square">
            <a:spAutoFit/>
          </a:bodyPr>
          <a:lstStyle/>
          <a:p>
            <a:pPr algn="l"/>
            <a:r>
              <a:rPr sz="1150" b="0" i="0">
                <a:solidFill>
                  <a:srgbClr val="212121"/>
                </a:solidFill>
                <a:latin typeface="Calibri"/>
              </a:rPr>
              <a:t>▸  name — full name (for gender classification)</a:t>
            </a:r>
          </a:p>
        </p:txBody>
      </p:sp>
      <p:sp>
        <p:nvSpPr>
          <p:cNvPr id="35" name="TextBox 34"/>
          <p:cNvSpPr txBox="1"/>
          <p:nvPr/>
        </p:nvSpPr>
        <p:spPr>
          <a:xfrm>
            <a:off x="4178807" y="3770017"/>
            <a:ext cx="3547871" cy="347472"/>
          </a:xfrm>
          <a:prstGeom prst="rect">
            <a:avLst/>
          </a:prstGeom>
          <a:noFill/>
        </p:spPr>
        <p:txBody>
          <a:bodyPr wrap="square">
            <a:spAutoFit/>
          </a:bodyPr>
          <a:lstStyle/>
          <a:p>
            <a:pPr algn="l"/>
            <a:r>
              <a:rPr sz="1150" b="0" i="0">
                <a:solidFill>
                  <a:srgbClr val="212121"/>
                </a:solidFill>
                <a:latin typeface="Calibri"/>
              </a:rPr>
              <a:t>▸  gender — male/female (gender model TARGET)</a:t>
            </a:r>
          </a:p>
        </p:txBody>
      </p:sp>
      <p:sp>
        <p:nvSpPr>
          <p:cNvPr id="36" name="TextBox 35"/>
          <p:cNvSpPr txBox="1"/>
          <p:nvPr/>
        </p:nvSpPr>
        <p:spPr>
          <a:xfrm>
            <a:off x="4178807" y="4135777"/>
            <a:ext cx="3547871" cy="347472"/>
          </a:xfrm>
          <a:prstGeom prst="rect">
            <a:avLst/>
          </a:prstGeom>
          <a:noFill/>
        </p:spPr>
        <p:txBody>
          <a:bodyPr wrap="square">
            <a:spAutoFit/>
          </a:bodyPr>
          <a:lstStyle/>
          <a:p>
            <a:pPr algn="l"/>
            <a:r>
              <a:rPr sz="1150" b="0" i="0">
                <a:solidFill>
                  <a:srgbClr val="212121"/>
                </a:solidFill>
                <a:latin typeface="Calibri"/>
              </a:rPr>
              <a:t>▸  age — user age</a:t>
            </a:r>
          </a:p>
        </p:txBody>
      </p:sp>
      <p:sp>
        <p:nvSpPr>
          <p:cNvPr id="37" name="TextBox 36"/>
          <p:cNvSpPr txBox="1"/>
          <p:nvPr/>
        </p:nvSpPr>
        <p:spPr>
          <a:xfrm>
            <a:off x="4178807" y="4501537"/>
            <a:ext cx="3547871" cy="347472"/>
          </a:xfrm>
          <a:prstGeom prst="rect">
            <a:avLst/>
          </a:prstGeom>
          <a:noFill/>
        </p:spPr>
        <p:txBody>
          <a:bodyPr wrap="square">
            <a:spAutoFit/>
          </a:bodyPr>
          <a:lstStyle/>
          <a:p>
            <a:pPr algn="l"/>
            <a:r>
              <a:rPr sz="1150" b="0" i="0">
                <a:solidFill>
                  <a:srgbClr val="212121"/>
                </a:solidFill>
                <a:latin typeface="Calibri"/>
              </a:rPr>
              <a:t>▸  company — frequent-flyer company</a:t>
            </a:r>
          </a:p>
        </p:txBody>
      </p:sp>
      <p:sp>
        <p:nvSpPr>
          <p:cNvPr id="38" name="Rectangle 37"/>
          <p:cNvSpPr/>
          <p:nvPr/>
        </p:nvSpPr>
        <p:spPr>
          <a:xfrm>
            <a:off x="4142231" y="6067313"/>
            <a:ext cx="3602735" cy="1828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78807" y="6058169"/>
            <a:ext cx="3547871" cy="384721"/>
          </a:xfrm>
          <a:prstGeom prst="rect">
            <a:avLst/>
          </a:prstGeom>
          <a:noFill/>
        </p:spPr>
        <p:txBody>
          <a:bodyPr wrap="square">
            <a:spAutoFit/>
          </a:bodyPr>
          <a:lstStyle/>
          <a:p>
            <a:pPr algn="l"/>
            <a:r>
              <a:rPr sz="950" b="1" i="0" dirty="0">
                <a:solidFill>
                  <a:srgbClr val="FFFFFF"/>
                </a:solidFill>
                <a:latin typeface="Calibri"/>
              </a:rPr>
              <a:t>User age: median ~42 yrs (range 30–55)
</a:t>
            </a:r>
            <a:r>
              <a:rPr sz="950" b="1" i="0" dirty="0">
                <a:latin typeface="Calibri"/>
              </a:rPr>
              <a:t>Gender not always provided — ML fills this gap</a:t>
            </a:r>
          </a:p>
        </p:txBody>
      </p:sp>
      <p:sp>
        <p:nvSpPr>
          <p:cNvPr id="40" name="Rectangle 39"/>
          <p:cNvSpPr/>
          <p:nvPr/>
        </p:nvSpPr>
        <p:spPr>
          <a:xfrm>
            <a:off x="7955278" y="2398417"/>
            <a:ext cx="3749039" cy="4005072"/>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955278" y="2398417"/>
            <a:ext cx="3749039"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046718" y="2434993"/>
            <a:ext cx="3566159" cy="292608"/>
          </a:xfrm>
          <a:prstGeom prst="rect">
            <a:avLst/>
          </a:prstGeom>
          <a:noFill/>
        </p:spPr>
        <p:txBody>
          <a:bodyPr wrap="square">
            <a:spAutoFit/>
          </a:bodyPr>
          <a:lstStyle/>
          <a:p>
            <a:pPr algn="l"/>
            <a:r>
              <a:rPr sz="1200" b="1" i="0">
                <a:solidFill>
                  <a:srgbClr val="FFFFFF"/>
                </a:solidFill>
                <a:latin typeface="Courier New"/>
              </a:rPr>
              <a:t>hotels.csv</a:t>
            </a:r>
          </a:p>
        </p:txBody>
      </p:sp>
      <p:sp>
        <p:nvSpPr>
          <p:cNvPr id="43" name="TextBox 42"/>
          <p:cNvSpPr txBox="1"/>
          <p:nvPr/>
        </p:nvSpPr>
        <p:spPr>
          <a:xfrm>
            <a:off x="8046718" y="2745889"/>
            <a:ext cx="3566159" cy="219456"/>
          </a:xfrm>
          <a:prstGeom prst="rect">
            <a:avLst/>
          </a:prstGeom>
          <a:noFill/>
        </p:spPr>
        <p:txBody>
          <a:bodyPr wrap="square">
            <a:spAutoFit/>
          </a:bodyPr>
          <a:lstStyle/>
          <a:p>
            <a:pPr algn="l"/>
            <a:r>
              <a:rPr sz="1000" b="0" i="0">
                <a:solidFill>
                  <a:srgbClr val="E8F4FD"/>
                </a:solidFill>
                <a:latin typeface="Calibri"/>
              </a:rPr>
              <a:t>Records: 271,888 | Cols: 6 (190,784 nulls in hotel cols)</a:t>
            </a:r>
          </a:p>
        </p:txBody>
      </p:sp>
      <p:sp>
        <p:nvSpPr>
          <p:cNvPr id="44" name="TextBox 43"/>
          <p:cNvSpPr txBox="1"/>
          <p:nvPr/>
        </p:nvSpPr>
        <p:spPr>
          <a:xfrm>
            <a:off x="8065006" y="3038497"/>
            <a:ext cx="3547871" cy="347472"/>
          </a:xfrm>
          <a:prstGeom prst="rect">
            <a:avLst/>
          </a:prstGeom>
          <a:noFill/>
        </p:spPr>
        <p:txBody>
          <a:bodyPr wrap="square">
            <a:spAutoFit/>
          </a:bodyPr>
          <a:lstStyle/>
          <a:p>
            <a:pPr algn="l"/>
            <a:r>
              <a:rPr sz="1150" b="0" i="0">
                <a:solidFill>
                  <a:srgbClr val="212121"/>
                </a:solidFill>
                <a:latin typeface="Calibri"/>
              </a:rPr>
              <a:t>▸  travelCode — join key</a:t>
            </a:r>
          </a:p>
        </p:txBody>
      </p:sp>
      <p:sp>
        <p:nvSpPr>
          <p:cNvPr id="45" name="TextBox 44"/>
          <p:cNvSpPr txBox="1"/>
          <p:nvPr/>
        </p:nvSpPr>
        <p:spPr>
          <a:xfrm>
            <a:off x="8065006" y="3404257"/>
            <a:ext cx="3547871" cy="347472"/>
          </a:xfrm>
          <a:prstGeom prst="rect">
            <a:avLst/>
          </a:prstGeom>
          <a:noFill/>
        </p:spPr>
        <p:txBody>
          <a:bodyPr wrap="square">
            <a:spAutoFit/>
          </a:bodyPr>
          <a:lstStyle/>
          <a:p>
            <a:pPr algn="l"/>
            <a:r>
              <a:rPr sz="1150" b="0" i="0">
                <a:solidFill>
                  <a:srgbClr val="212121"/>
                </a:solidFill>
                <a:latin typeface="Calibri"/>
              </a:rPr>
              <a:t>▸  hotel_name — hotel chosen (if any)</a:t>
            </a:r>
          </a:p>
        </p:txBody>
      </p:sp>
      <p:sp>
        <p:nvSpPr>
          <p:cNvPr id="46" name="TextBox 45"/>
          <p:cNvSpPr txBox="1"/>
          <p:nvPr/>
        </p:nvSpPr>
        <p:spPr>
          <a:xfrm>
            <a:off x="8065006" y="3770017"/>
            <a:ext cx="3547871" cy="347472"/>
          </a:xfrm>
          <a:prstGeom prst="rect">
            <a:avLst/>
          </a:prstGeom>
          <a:noFill/>
        </p:spPr>
        <p:txBody>
          <a:bodyPr wrap="square">
            <a:spAutoFit/>
          </a:bodyPr>
          <a:lstStyle/>
          <a:p>
            <a:pPr algn="l"/>
            <a:r>
              <a:rPr sz="1150" b="0" i="0">
                <a:solidFill>
                  <a:srgbClr val="212121"/>
                </a:solidFill>
                <a:latin typeface="Calibri"/>
              </a:rPr>
              <a:t>▸  place — hotel city</a:t>
            </a:r>
          </a:p>
        </p:txBody>
      </p:sp>
      <p:sp>
        <p:nvSpPr>
          <p:cNvPr id="47" name="TextBox 46"/>
          <p:cNvSpPr txBox="1"/>
          <p:nvPr/>
        </p:nvSpPr>
        <p:spPr>
          <a:xfrm>
            <a:off x="8065006" y="4135777"/>
            <a:ext cx="3547871" cy="347472"/>
          </a:xfrm>
          <a:prstGeom prst="rect">
            <a:avLst/>
          </a:prstGeom>
          <a:noFill/>
        </p:spPr>
        <p:txBody>
          <a:bodyPr wrap="square">
            <a:spAutoFit/>
          </a:bodyPr>
          <a:lstStyle/>
          <a:p>
            <a:pPr algn="l"/>
            <a:r>
              <a:rPr sz="1150" b="0" i="0">
                <a:solidFill>
                  <a:srgbClr val="212121"/>
                </a:solidFill>
                <a:latin typeface="Calibri"/>
              </a:rPr>
              <a:t>▸  days — number of nights</a:t>
            </a:r>
          </a:p>
        </p:txBody>
      </p:sp>
      <p:sp>
        <p:nvSpPr>
          <p:cNvPr id="48" name="TextBox 47"/>
          <p:cNvSpPr txBox="1"/>
          <p:nvPr/>
        </p:nvSpPr>
        <p:spPr>
          <a:xfrm>
            <a:off x="8065006" y="4501537"/>
            <a:ext cx="3547871" cy="347472"/>
          </a:xfrm>
          <a:prstGeom prst="rect">
            <a:avLst/>
          </a:prstGeom>
          <a:noFill/>
        </p:spPr>
        <p:txBody>
          <a:bodyPr wrap="square">
            <a:spAutoFit/>
          </a:bodyPr>
          <a:lstStyle/>
          <a:p>
            <a:pPr algn="l"/>
            <a:r>
              <a:rPr sz="1150" b="0" i="0">
                <a:solidFill>
                  <a:srgbClr val="212121"/>
                </a:solidFill>
                <a:latin typeface="Calibri"/>
              </a:rPr>
              <a:t>▸  hotel_date — check-in date</a:t>
            </a:r>
          </a:p>
        </p:txBody>
      </p:sp>
      <p:sp>
        <p:nvSpPr>
          <p:cNvPr id="49" name="TextBox 48"/>
          <p:cNvSpPr txBox="1"/>
          <p:nvPr/>
        </p:nvSpPr>
        <p:spPr>
          <a:xfrm>
            <a:off x="8065006" y="4867297"/>
            <a:ext cx="3547871" cy="347472"/>
          </a:xfrm>
          <a:prstGeom prst="rect">
            <a:avLst/>
          </a:prstGeom>
          <a:noFill/>
        </p:spPr>
        <p:txBody>
          <a:bodyPr wrap="square">
            <a:spAutoFit/>
          </a:bodyPr>
          <a:lstStyle/>
          <a:p>
            <a:pPr algn="l"/>
            <a:r>
              <a:rPr sz="1150" b="0" i="0">
                <a:solidFill>
                  <a:srgbClr val="212121"/>
                </a:solidFill>
                <a:latin typeface="Calibri"/>
              </a:rPr>
              <a:t>▸  hotel_price — hotel cost</a:t>
            </a:r>
          </a:p>
        </p:txBody>
      </p:sp>
      <p:sp>
        <p:nvSpPr>
          <p:cNvPr id="50" name="Rectangle 49"/>
          <p:cNvSpPr/>
          <p:nvPr/>
        </p:nvSpPr>
        <p:spPr>
          <a:xfrm>
            <a:off x="8028430" y="6067313"/>
            <a:ext cx="3602735" cy="1828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065006" y="6058169"/>
            <a:ext cx="3547871" cy="384721"/>
          </a:xfrm>
          <a:prstGeom prst="rect">
            <a:avLst/>
          </a:prstGeom>
          <a:noFill/>
        </p:spPr>
        <p:txBody>
          <a:bodyPr wrap="square">
            <a:spAutoFit/>
          </a:bodyPr>
          <a:lstStyle/>
          <a:p>
            <a:pPr algn="l"/>
            <a:r>
              <a:rPr sz="950" b="1" i="0" dirty="0">
                <a:solidFill>
                  <a:srgbClr val="FFFFFF"/>
                </a:solidFill>
                <a:latin typeface="Calibri"/>
              </a:rPr>
              <a:t>70% of rows have null hotel columns</a:t>
            </a:r>
            <a:r>
              <a:rPr sz="950" b="1" i="0" dirty="0">
                <a:latin typeface="Calibri"/>
              </a:rPr>
              <a:t>
(most bookings are flight-only, no hotel)</a:t>
            </a:r>
          </a:p>
        </p:txBody>
      </p:sp>
      <p:pic>
        <p:nvPicPr>
          <p:cNvPr id="52" name="Picture 51" descr="out_33_0.png"/>
          <p:cNvPicPr>
            <a:picLocks noChangeAspect="1"/>
          </p:cNvPicPr>
          <p:nvPr/>
        </p:nvPicPr>
        <p:blipFill>
          <a:blip r:embed="rId2"/>
          <a:stretch>
            <a:fillRect/>
          </a:stretch>
        </p:blipFill>
        <p:spPr>
          <a:xfrm>
            <a:off x="182880" y="1261872"/>
            <a:ext cx="11795760" cy="969264"/>
          </a:xfrm>
          <a:prstGeom prst="rect">
            <a:avLst/>
          </a:prstGeom>
        </p:spPr>
      </p:pic>
      <p:sp>
        <p:nvSpPr>
          <p:cNvPr id="53" name="TextBox 52"/>
          <p:cNvSpPr txBox="1"/>
          <p:nvPr/>
        </p:nvSpPr>
        <p:spPr>
          <a:xfrm>
            <a:off x="274320" y="2194560"/>
            <a:ext cx="11795760" cy="256032"/>
          </a:xfrm>
          <a:prstGeom prst="rect">
            <a:avLst/>
          </a:prstGeom>
          <a:noFill/>
        </p:spPr>
        <p:txBody>
          <a:bodyPr wrap="square">
            <a:spAutoFit/>
          </a:bodyPr>
          <a:lstStyle/>
          <a:p>
            <a:pPr algn="ctr"/>
            <a:r>
              <a:rPr sz="950" b="0" i="1" dirty="0">
                <a:solidFill>
                  <a:srgbClr val="546E7A"/>
                </a:solidFill>
                <a:latin typeface="Calibri"/>
              </a:rPr>
              <a:t>Fig 1: Missing values heatmap — hotel-related columns (</a:t>
            </a:r>
            <a:r>
              <a:rPr sz="950" b="0" i="1" dirty="0" err="1">
                <a:solidFill>
                  <a:srgbClr val="546E7A"/>
                </a:solidFill>
                <a:latin typeface="Calibri"/>
              </a:rPr>
              <a:t>hotel_name</a:t>
            </a:r>
            <a:r>
              <a:rPr sz="950" b="0" i="1" dirty="0">
                <a:solidFill>
                  <a:srgbClr val="546E7A"/>
                </a:solidFill>
                <a:latin typeface="Calibri"/>
              </a:rPr>
              <a:t>, place, </a:t>
            </a:r>
            <a:r>
              <a:rPr sz="950" b="0" i="1" dirty="0" err="1">
                <a:solidFill>
                  <a:srgbClr val="546E7A"/>
                </a:solidFill>
                <a:latin typeface="Calibri"/>
              </a:rPr>
              <a:t>hotel_price</a:t>
            </a:r>
            <a:r>
              <a:rPr sz="950" b="0" i="1" dirty="0">
                <a:solidFill>
                  <a:srgbClr val="546E7A"/>
                </a:solidFill>
                <a:latin typeface="Calibri"/>
              </a:rPr>
              <a:t>) show 70% null — expected as most bookings are flight-only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EDA — Flight Routes &amp; Airline Pricing</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Identify highest-demand routes and relative pricing across airlines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Discover which travel routes generate the most bookings and how airline pricing differs — critical context for the price prediction model and understanding revenue concentration.</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groupBy(['from','to']).agg(count, mean_price) for route analysis; groupBy('company').mean('price') for airline comparison; bar chart and pie chart visualisations</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Top route: Aracaju→Florianopolis — 8,000+ flights</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The route from Aracaju (SE) to Florianopolis (SC) and its return leg are the most frequent in the dataset (both exceeding 8,000 bookings). Despite high volume, these routes maintain average prices above 1,200 — suggesting strong price inelasticity on this corridor.</a:t>
            </a:r>
          </a:p>
        </p:txBody>
      </p:sp>
      <p:sp>
        <p:nvSpPr>
          <p:cNvPr id="22" name="Rounded Rectangle 21"/>
          <p:cNvSpPr/>
          <p:nvPr/>
        </p:nvSpPr>
        <p:spPr>
          <a:xfrm>
            <a:off x="347472" y="322783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25526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227832"/>
            <a:ext cx="5349240" cy="256032"/>
          </a:xfrm>
          <a:prstGeom prst="rect">
            <a:avLst/>
          </a:prstGeom>
          <a:noFill/>
        </p:spPr>
        <p:txBody>
          <a:bodyPr wrap="square">
            <a:spAutoFit/>
          </a:bodyPr>
          <a:lstStyle/>
          <a:p>
            <a:pPr algn="l"/>
            <a:r>
              <a:rPr sz="1300" b="1" i="0">
                <a:solidFill>
                  <a:srgbClr val="1565C0"/>
                </a:solidFill>
                <a:latin typeface="Calibri"/>
              </a:rPr>
              <a:t>High volume ≠ low price — price stability on top routes</a:t>
            </a:r>
          </a:p>
        </p:txBody>
      </p:sp>
      <p:sp>
        <p:nvSpPr>
          <p:cNvPr id="25" name="TextBox 24"/>
          <p:cNvSpPr txBox="1"/>
          <p:nvPr/>
        </p:nvSpPr>
        <p:spPr>
          <a:xfrm>
            <a:off x="731520" y="3502152"/>
            <a:ext cx="5349240" cy="420624"/>
          </a:xfrm>
          <a:prstGeom prst="rect">
            <a:avLst/>
          </a:prstGeom>
          <a:noFill/>
        </p:spPr>
        <p:txBody>
          <a:bodyPr wrap="square">
            <a:spAutoFit/>
          </a:bodyPr>
          <a:lstStyle/>
          <a:p>
            <a:pPr algn="l"/>
            <a:r>
              <a:rPr sz="1150" b="0" i="0">
                <a:solidFill>
                  <a:srgbClr val="212121"/>
                </a:solidFill>
                <a:latin typeface="Calibri"/>
              </a:rPr>
              <a:t>Counter-intuitively, the highest-demand routes do not show price discounting. Strong demand allows airlines to maintain premium pricing on these corridors — an important finding for the price prediction model (route demand must be a feature).</a:t>
            </a:r>
          </a:p>
        </p:txBody>
      </p:sp>
      <p:sp>
        <p:nvSpPr>
          <p:cNvPr id="26" name="Rounded Rectangle 25"/>
          <p:cNvSpPr/>
          <p:nvPr/>
        </p:nvSpPr>
        <p:spPr>
          <a:xfrm>
            <a:off x="347472" y="3986784"/>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014216"/>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3986784"/>
            <a:ext cx="5349240" cy="256032"/>
          </a:xfrm>
          <a:prstGeom prst="rect">
            <a:avLst/>
          </a:prstGeom>
          <a:noFill/>
        </p:spPr>
        <p:txBody>
          <a:bodyPr wrap="square">
            <a:spAutoFit/>
          </a:bodyPr>
          <a:lstStyle/>
          <a:p>
            <a:pPr algn="l"/>
            <a:r>
              <a:rPr sz="1300" b="1" i="0">
                <a:solidFill>
                  <a:srgbClr val="F59E0B"/>
                </a:solidFill>
                <a:latin typeface="Calibri"/>
              </a:rPr>
              <a:t>Airline pricing varies significantly</a:t>
            </a:r>
          </a:p>
        </p:txBody>
      </p:sp>
      <p:sp>
        <p:nvSpPr>
          <p:cNvPr id="29" name="TextBox 28"/>
          <p:cNvSpPr txBox="1"/>
          <p:nvPr/>
        </p:nvSpPr>
        <p:spPr>
          <a:xfrm>
            <a:off x="731520" y="4261104"/>
            <a:ext cx="5349240" cy="420624"/>
          </a:xfrm>
          <a:prstGeom prst="rect">
            <a:avLst/>
          </a:prstGeom>
          <a:noFill/>
        </p:spPr>
        <p:txBody>
          <a:bodyPr wrap="square">
            <a:spAutoFit/>
          </a:bodyPr>
          <a:lstStyle/>
          <a:p>
            <a:pPr algn="l"/>
            <a:r>
              <a:rPr sz="1150" b="0" i="0">
                <a:solidFill>
                  <a:srgbClr val="212121"/>
                </a:solidFill>
                <a:latin typeface="Calibri"/>
              </a:rPr>
              <a:t>The pie chart shows significant variation in average ticket price across agencies/airlines — some agencies position at premium, others at budget. Agency identity is therefore a meaningful predictor in the price regression model.</a:t>
            </a:r>
          </a:p>
        </p:txBody>
      </p:sp>
      <p:pic>
        <p:nvPicPr>
          <p:cNvPr id="30" name="Picture 29" descr="out_57_1.png"/>
          <p:cNvPicPr>
            <a:picLocks noChangeAspect="1"/>
          </p:cNvPicPr>
          <p:nvPr/>
        </p:nvPicPr>
        <p:blipFill>
          <a:blip r:embed="rId2"/>
          <a:stretch>
            <a:fillRect/>
          </a:stretch>
        </p:blipFill>
        <p:spPr>
          <a:xfrm>
            <a:off x="6236208" y="1261872"/>
            <a:ext cx="5596128" cy="2395728"/>
          </a:xfrm>
          <a:prstGeom prst="rect">
            <a:avLst/>
          </a:prstGeom>
        </p:spPr>
      </p:pic>
      <p:sp>
        <p:nvSpPr>
          <p:cNvPr id="31" name="TextBox 30"/>
          <p:cNvSpPr txBox="1"/>
          <p:nvPr/>
        </p:nvSpPr>
        <p:spPr>
          <a:xfrm>
            <a:off x="6236208" y="3675887"/>
            <a:ext cx="5596128" cy="256032"/>
          </a:xfrm>
          <a:prstGeom prst="rect">
            <a:avLst/>
          </a:prstGeom>
          <a:noFill/>
        </p:spPr>
        <p:txBody>
          <a:bodyPr wrap="square">
            <a:spAutoFit/>
          </a:bodyPr>
          <a:lstStyle/>
          <a:p>
            <a:pPr algn="ctr"/>
            <a:r>
              <a:rPr sz="950" b="0" i="1">
                <a:solidFill>
                  <a:srgbClr val="546E7A"/>
                </a:solidFill>
                <a:latin typeface="Calibri"/>
              </a:rPr>
              <a:t>Fig 2: Top 10 most frequent routes with average prices — Aracaju↔Florianopolis leads both volume and maintained high pricing</a:t>
            </a:r>
          </a:p>
        </p:txBody>
      </p:sp>
      <p:pic>
        <p:nvPicPr>
          <p:cNvPr id="32" name="Picture 31" descr="out_60_2.png"/>
          <p:cNvPicPr>
            <a:picLocks noChangeAspect="1"/>
          </p:cNvPicPr>
          <p:nvPr/>
        </p:nvPicPr>
        <p:blipFill>
          <a:blip r:embed="rId3"/>
          <a:stretch>
            <a:fillRect/>
          </a:stretch>
        </p:blipFill>
        <p:spPr>
          <a:xfrm>
            <a:off x="6236208" y="3840480"/>
            <a:ext cx="5596128" cy="2423160"/>
          </a:xfrm>
          <a:prstGeom prst="rect">
            <a:avLst/>
          </a:prstGeom>
        </p:spPr>
      </p:pic>
      <p:sp>
        <p:nvSpPr>
          <p:cNvPr id="33" name="TextBox 32"/>
          <p:cNvSpPr txBox="1"/>
          <p:nvPr/>
        </p:nvSpPr>
        <p:spPr>
          <a:xfrm>
            <a:off x="6236208" y="6281928"/>
            <a:ext cx="5596128" cy="256032"/>
          </a:xfrm>
          <a:prstGeom prst="rect">
            <a:avLst/>
          </a:prstGeom>
          <a:noFill/>
        </p:spPr>
        <p:txBody>
          <a:bodyPr wrap="square">
            <a:spAutoFit/>
          </a:bodyPr>
          <a:lstStyle/>
          <a:p>
            <a:pPr algn="ctr"/>
            <a:r>
              <a:rPr sz="950" b="0" i="1">
                <a:solidFill>
                  <a:srgbClr val="546E7A"/>
                </a:solidFill>
                <a:latin typeface="Calibri"/>
              </a:rPr>
              <a:t>Fig 3: Average flight price per airline (pie chart) — significant pricing differentiation across agencies; agency is a key regression feature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EDA — Flight Distributions &amp; User Demographics</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Understand flight time/distance distributions and user age profile</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Analyse the statistical distributions of key numeric features (time, distance, price) and understand the user age profile — these findings inform feature engineering and transformation decisions.</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sns.histplot(kde=True) for time &amp; distance; boxplot for age distribution per company; PairPlot for multi-variable relationships; correlation heatmap (Pearson)</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Flight duration: right-skewed, 2–8 hrs range</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Flight duration distribution is right-skewed with most flights between 2 and 6 hours. A long tail of longer flights suggests international routes in the dataset. Log or sqrt transformation reduces skewness for modelling.</a:t>
            </a:r>
          </a:p>
        </p:txBody>
      </p:sp>
      <p:sp>
        <p:nvSpPr>
          <p:cNvPr id="22" name="Rounded Rectangle 21"/>
          <p:cNvSpPr/>
          <p:nvPr/>
        </p:nvSpPr>
        <p:spPr>
          <a:xfrm>
            <a:off x="347472" y="322783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25526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227832"/>
            <a:ext cx="5349240" cy="256032"/>
          </a:xfrm>
          <a:prstGeom prst="rect">
            <a:avLst/>
          </a:prstGeom>
          <a:noFill/>
        </p:spPr>
        <p:txBody>
          <a:bodyPr wrap="square">
            <a:spAutoFit/>
          </a:bodyPr>
          <a:lstStyle/>
          <a:p>
            <a:pPr algn="l"/>
            <a:r>
              <a:rPr sz="1300" b="1" i="0">
                <a:solidFill>
                  <a:srgbClr val="1565C0"/>
                </a:solidFill>
                <a:latin typeface="Calibri"/>
              </a:rPr>
              <a:t>User age: approximately normal, median ~42 yrs</a:t>
            </a:r>
          </a:p>
        </p:txBody>
      </p:sp>
      <p:sp>
        <p:nvSpPr>
          <p:cNvPr id="25" name="TextBox 24"/>
          <p:cNvSpPr txBox="1"/>
          <p:nvPr/>
        </p:nvSpPr>
        <p:spPr>
          <a:xfrm>
            <a:off x="731520" y="3502152"/>
            <a:ext cx="5349240" cy="420624"/>
          </a:xfrm>
          <a:prstGeom prst="rect">
            <a:avLst/>
          </a:prstGeom>
          <a:noFill/>
        </p:spPr>
        <p:txBody>
          <a:bodyPr wrap="square">
            <a:spAutoFit/>
          </a:bodyPr>
          <a:lstStyle/>
          <a:p>
            <a:pPr algn="l"/>
            <a:r>
              <a:rPr sz="1150" b="0" i="0">
                <a:solidFill>
                  <a:srgbClr val="212121"/>
                </a:solidFill>
                <a:latin typeface="Calibri"/>
              </a:rPr>
              <a:t>The user base is predominantly middle-aged (30–55 years). The age distribution is approximately normal — no transformation needed. Age is a meaningful feature for hotel recommendation (different age groups prefer different hotel styles).</a:t>
            </a:r>
          </a:p>
        </p:txBody>
      </p:sp>
      <p:sp>
        <p:nvSpPr>
          <p:cNvPr id="26" name="Rounded Rectangle 25"/>
          <p:cNvSpPr/>
          <p:nvPr/>
        </p:nvSpPr>
        <p:spPr>
          <a:xfrm>
            <a:off x="347472" y="3986784"/>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014216"/>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3986784"/>
            <a:ext cx="5349240" cy="256032"/>
          </a:xfrm>
          <a:prstGeom prst="rect">
            <a:avLst/>
          </a:prstGeom>
          <a:noFill/>
        </p:spPr>
        <p:txBody>
          <a:bodyPr wrap="square">
            <a:spAutoFit/>
          </a:bodyPr>
          <a:lstStyle/>
          <a:p>
            <a:pPr algn="l"/>
            <a:r>
              <a:rPr sz="1300" b="1" i="0">
                <a:solidFill>
                  <a:srgbClr val="F59E0B"/>
                </a:solidFill>
                <a:latin typeface="Calibri"/>
              </a:rPr>
              <a:t>Price, time, distance: perfectly correlated time↔distance</a:t>
            </a:r>
          </a:p>
        </p:txBody>
      </p:sp>
      <p:sp>
        <p:nvSpPr>
          <p:cNvPr id="29" name="TextBox 28"/>
          <p:cNvSpPr txBox="1"/>
          <p:nvPr/>
        </p:nvSpPr>
        <p:spPr>
          <a:xfrm>
            <a:off x="731520" y="4261104"/>
            <a:ext cx="5349240" cy="420624"/>
          </a:xfrm>
          <a:prstGeom prst="rect">
            <a:avLst/>
          </a:prstGeom>
          <a:noFill/>
        </p:spPr>
        <p:txBody>
          <a:bodyPr wrap="square">
            <a:spAutoFit/>
          </a:bodyPr>
          <a:lstStyle/>
          <a:p>
            <a:pPr algn="l"/>
            <a:r>
              <a:rPr sz="1150" b="0" i="0">
                <a:solidFill>
                  <a:srgbClr val="212121"/>
                </a:solidFill>
                <a:latin typeface="Calibri"/>
              </a:rPr>
              <a:t>The correlation heatmap shows price strongly positively correlated with both time (~0.64) and distance (~0.64). Time and distance are perfectly correlated (1.00) — they both measure flight length. Only one needs to be retained to avoid multicollinearity in linear models.</a:t>
            </a:r>
          </a:p>
        </p:txBody>
      </p:sp>
      <p:pic>
        <p:nvPicPr>
          <p:cNvPr id="30" name="Picture 29" descr="out_63_3.png"/>
          <p:cNvPicPr>
            <a:picLocks noChangeAspect="1"/>
          </p:cNvPicPr>
          <p:nvPr/>
        </p:nvPicPr>
        <p:blipFill>
          <a:blip r:embed="rId2"/>
          <a:stretch>
            <a:fillRect/>
          </a:stretch>
        </p:blipFill>
        <p:spPr>
          <a:xfrm>
            <a:off x="6236208" y="1261872"/>
            <a:ext cx="5596128" cy="2395728"/>
          </a:xfrm>
          <a:prstGeom prst="rect">
            <a:avLst/>
          </a:prstGeom>
        </p:spPr>
      </p:pic>
      <p:sp>
        <p:nvSpPr>
          <p:cNvPr id="31" name="TextBox 30"/>
          <p:cNvSpPr txBox="1"/>
          <p:nvPr/>
        </p:nvSpPr>
        <p:spPr>
          <a:xfrm>
            <a:off x="6236208" y="3675887"/>
            <a:ext cx="5596128" cy="256032"/>
          </a:xfrm>
          <a:prstGeom prst="rect">
            <a:avLst/>
          </a:prstGeom>
          <a:noFill/>
        </p:spPr>
        <p:txBody>
          <a:bodyPr wrap="square">
            <a:spAutoFit/>
          </a:bodyPr>
          <a:lstStyle/>
          <a:p>
            <a:pPr algn="ctr"/>
            <a:r>
              <a:rPr sz="950" b="0" i="1">
                <a:solidFill>
                  <a:srgbClr val="546E7A"/>
                </a:solidFill>
                <a:latin typeface="Calibri"/>
              </a:rPr>
              <a:t>Fig 4: Flight time &amp; distance distributions — both right-skewed; log transformation applied to normalise for regression modelling</a:t>
            </a:r>
          </a:p>
        </p:txBody>
      </p:sp>
      <p:pic>
        <p:nvPicPr>
          <p:cNvPr id="32" name="Picture 31" descr="out_70_6.png"/>
          <p:cNvPicPr>
            <a:picLocks noChangeAspect="1"/>
          </p:cNvPicPr>
          <p:nvPr/>
        </p:nvPicPr>
        <p:blipFill>
          <a:blip r:embed="rId3"/>
          <a:stretch>
            <a:fillRect/>
          </a:stretch>
        </p:blipFill>
        <p:spPr>
          <a:xfrm>
            <a:off x="6236208" y="3840480"/>
            <a:ext cx="5596128" cy="2423160"/>
          </a:xfrm>
          <a:prstGeom prst="rect">
            <a:avLst/>
          </a:prstGeom>
        </p:spPr>
      </p:pic>
      <p:sp>
        <p:nvSpPr>
          <p:cNvPr id="33" name="TextBox 32"/>
          <p:cNvSpPr txBox="1"/>
          <p:nvPr/>
        </p:nvSpPr>
        <p:spPr>
          <a:xfrm>
            <a:off x="6236208" y="6281928"/>
            <a:ext cx="5596128" cy="256032"/>
          </a:xfrm>
          <a:prstGeom prst="rect">
            <a:avLst/>
          </a:prstGeom>
          <a:noFill/>
        </p:spPr>
        <p:txBody>
          <a:bodyPr wrap="square">
            <a:spAutoFit/>
          </a:bodyPr>
          <a:lstStyle/>
          <a:p>
            <a:pPr algn="ctr"/>
            <a:r>
              <a:rPr sz="950" b="0" i="1">
                <a:solidFill>
                  <a:srgbClr val="546E7A"/>
                </a:solidFill>
                <a:latin typeface="Calibri"/>
              </a:rPr>
              <a:t>Fig 5: User age distribution &amp; Pearson correlation heatmap — age approximately normal; price↔time correlation (+0.64) confirmed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EDA — Price by Flight Type &amp; Agency Violin Plot</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Understand how flight class and agency affect ticket pricing</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Quantify how flight type (first class vs. economy vs. premium) and booking agency influence ticket prices — informing both the regression model feature set and the business pricing strategy.</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groupBy('flightType').mean('price') → bar chart; sns.violinplot(x='agency', y='price') for price distribution density per agency</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First class commands a significant price premium</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First class tickets are priced substantially higher than economy. The gap between first class and economy is a predictable structural feature — flight type must be a top feature in the price regression model.</a:t>
            </a:r>
          </a:p>
        </p:txBody>
      </p:sp>
      <p:sp>
        <p:nvSpPr>
          <p:cNvPr id="22" name="Rounded Rectangle 21"/>
          <p:cNvSpPr/>
          <p:nvPr/>
        </p:nvSpPr>
        <p:spPr>
          <a:xfrm>
            <a:off x="347472" y="322783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25526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227832"/>
            <a:ext cx="5349240" cy="256032"/>
          </a:xfrm>
          <a:prstGeom prst="rect">
            <a:avLst/>
          </a:prstGeom>
          <a:noFill/>
        </p:spPr>
        <p:txBody>
          <a:bodyPr wrap="square">
            <a:spAutoFit/>
          </a:bodyPr>
          <a:lstStyle/>
          <a:p>
            <a:pPr algn="l"/>
            <a:r>
              <a:rPr sz="1300" b="1" i="0">
                <a:solidFill>
                  <a:srgbClr val="1565C0"/>
                </a:solidFill>
                <a:latin typeface="Calibri"/>
              </a:rPr>
              <a:t>FlyingDrops: widest price variability across all agencies</a:t>
            </a:r>
          </a:p>
        </p:txBody>
      </p:sp>
      <p:sp>
        <p:nvSpPr>
          <p:cNvPr id="25" name="TextBox 24"/>
          <p:cNvSpPr txBox="1"/>
          <p:nvPr/>
        </p:nvSpPr>
        <p:spPr>
          <a:xfrm>
            <a:off x="731520" y="3502152"/>
            <a:ext cx="5349240" cy="420624"/>
          </a:xfrm>
          <a:prstGeom prst="rect">
            <a:avLst/>
          </a:prstGeom>
          <a:noFill/>
        </p:spPr>
        <p:txBody>
          <a:bodyPr wrap="square">
            <a:spAutoFit/>
          </a:bodyPr>
          <a:lstStyle/>
          <a:p>
            <a:pPr algn="l"/>
            <a:r>
              <a:rPr sz="1150" b="0" i="0">
                <a:solidFill>
                  <a:srgbClr val="212121"/>
                </a:solidFill>
                <a:latin typeface="Calibri"/>
              </a:rPr>
              <a:t>'FlyingDrops' shows the widest price distribution in the violin plot — ranging from very affordable to premium luxury. This suggests a broad product portfolio. 'Rainbow' and 'CloudFy' have much tighter, concentrated price bands — specialist positioning.</a:t>
            </a:r>
          </a:p>
        </p:txBody>
      </p:sp>
      <p:sp>
        <p:nvSpPr>
          <p:cNvPr id="26" name="Rounded Rectangle 25"/>
          <p:cNvSpPr/>
          <p:nvPr/>
        </p:nvSpPr>
        <p:spPr>
          <a:xfrm>
            <a:off x="347472" y="3986784"/>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014216"/>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3986784"/>
            <a:ext cx="5349240" cy="256032"/>
          </a:xfrm>
          <a:prstGeom prst="rect">
            <a:avLst/>
          </a:prstGeom>
          <a:noFill/>
        </p:spPr>
        <p:txBody>
          <a:bodyPr wrap="square">
            <a:spAutoFit/>
          </a:bodyPr>
          <a:lstStyle/>
          <a:p>
            <a:pPr algn="l"/>
            <a:r>
              <a:rPr sz="1300" b="1" i="0">
                <a:solidFill>
                  <a:srgbClr val="F59E0B"/>
                </a:solidFill>
                <a:latin typeface="Calibri"/>
              </a:rPr>
              <a:t>Agency identity is a strong price predictor</a:t>
            </a:r>
          </a:p>
        </p:txBody>
      </p:sp>
      <p:sp>
        <p:nvSpPr>
          <p:cNvPr id="29" name="TextBox 28"/>
          <p:cNvSpPr txBox="1"/>
          <p:nvPr/>
        </p:nvSpPr>
        <p:spPr>
          <a:xfrm>
            <a:off x="731520" y="4261104"/>
            <a:ext cx="5349240" cy="420624"/>
          </a:xfrm>
          <a:prstGeom prst="rect">
            <a:avLst/>
          </a:prstGeom>
          <a:noFill/>
        </p:spPr>
        <p:txBody>
          <a:bodyPr wrap="square">
            <a:spAutoFit/>
          </a:bodyPr>
          <a:lstStyle/>
          <a:p>
            <a:pPr algn="l"/>
            <a:r>
              <a:rPr sz="1150" b="0" i="0">
                <a:solidFill>
                  <a:srgbClr val="212121"/>
                </a:solidFill>
                <a:latin typeface="Calibri"/>
              </a:rPr>
              <a:t>The violin plot confirms that different agencies cluster at distinctly different price points. Including agency as a categorical feature (one-hot encoded) will significantly improve regression model accuracy.</a:t>
            </a:r>
          </a:p>
        </p:txBody>
      </p:sp>
      <p:sp>
        <p:nvSpPr>
          <p:cNvPr id="30" name="Rounded Rectangle 29"/>
          <p:cNvSpPr/>
          <p:nvPr/>
        </p:nvSpPr>
        <p:spPr>
          <a:xfrm>
            <a:off x="347472" y="4745736"/>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4773168"/>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4745736"/>
            <a:ext cx="5349240" cy="256032"/>
          </a:xfrm>
          <a:prstGeom prst="rect">
            <a:avLst/>
          </a:prstGeom>
          <a:noFill/>
        </p:spPr>
        <p:txBody>
          <a:bodyPr wrap="square">
            <a:spAutoFit/>
          </a:bodyPr>
          <a:lstStyle/>
          <a:p>
            <a:pPr algn="l"/>
            <a:r>
              <a:rPr sz="1300" b="1" i="0">
                <a:solidFill>
                  <a:srgbClr val="2E7D32"/>
                </a:solidFill>
                <a:latin typeface="Calibri"/>
              </a:rPr>
              <a:t>Pair plot confirms linear price↔distance relationship</a:t>
            </a:r>
          </a:p>
        </p:txBody>
      </p:sp>
      <p:sp>
        <p:nvSpPr>
          <p:cNvPr id="33" name="TextBox 32"/>
          <p:cNvSpPr txBox="1"/>
          <p:nvPr/>
        </p:nvSpPr>
        <p:spPr>
          <a:xfrm>
            <a:off x="731520" y="5020056"/>
            <a:ext cx="5349240" cy="420624"/>
          </a:xfrm>
          <a:prstGeom prst="rect">
            <a:avLst/>
          </a:prstGeom>
          <a:noFill/>
        </p:spPr>
        <p:txBody>
          <a:bodyPr wrap="square">
            <a:spAutoFit/>
          </a:bodyPr>
          <a:lstStyle/>
          <a:p>
            <a:pPr algn="l"/>
            <a:r>
              <a:rPr sz="1150" b="0" i="0">
                <a:solidFill>
                  <a:srgbClr val="212121"/>
                </a:solidFill>
                <a:latin typeface="Calibri"/>
              </a:rPr>
              <a:t>The pair plot shows a clear linear trend between price and distance, and between price and time — validating that these are the most important regression features. The diagonal histograms confirm the skewed distributions noted earlier.</a:t>
            </a:r>
          </a:p>
        </p:txBody>
      </p:sp>
      <p:pic>
        <p:nvPicPr>
          <p:cNvPr id="34" name="Picture 33" descr="out_76_9.png"/>
          <p:cNvPicPr>
            <a:picLocks noChangeAspect="1"/>
          </p:cNvPicPr>
          <p:nvPr/>
        </p:nvPicPr>
        <p:blipFill>
          <a:blip r:embed="rId2"/>
          <a:stretch>
            <a:fillRect/>
          </a:stretch>
        </p:blipFill>
        <p:spPr>
          <a:xfrm>
            <a:off x="6236208" y="1261872"/>
            <a:ext cx="5596128" cy="2395728"/>
          </a:xfrm>
          <a:prstGeom prst="rect">
            <a:avLst/>
          </a:prstGeom>
        </p:spPr>
      </p:pic>
      <p:sp>
        <p:nvSpPr>
          <p:cNvPr id="35" name="TextBox 34"/>
          <p:cNvSpPr txBox="1"/>
          <p:nvPr/>
        </p:nvSpPr>
        <p:spPr>
          <a:xfrm>
            <a:off x="6236208" y="3675887"/>
            <a:ext cx="5596128" cy="256032"/>
          </a:xfrm>
          <a:prstGeom prst="rect">
            <a:avLst/>
          </a:prstGeom>
          <a:noFill/>
        </p:spPr>
        <p:txBody>
          <a:bodyPr wrap="square">
            <a:spAutoFit/>
          </a:bodyPr>
          <a:lstStyle/>
          <a:p>
            <a:pPr algn="ctr"/>
            <a:r>
              <a:rPr sz="950" b="0" i="1">
                <a:solidFill>
                  <a:srgbClr val="546E7A"/>
                </a:solidFill>
                <a:latin typeface="Calibri"/>
              </a:rPr>
              <a:t>Fig 6: Average price by flight type — first class premium clearly visible; flight type is a key regression feature</a:t>
            </a:r>
          </a:p>
        </p:txBody>
      </p:sp>
      <p:pic>
        <p:nvPicPr>
          <p:cNvPr id="36" name="Picture 35" descr="out_78_10.png"/>
          <p:cNvPicPr>
            <a:picLocks noChangeAspect="1"/>
          </p:cNvPicPr>
          <p:nvPr/>
        </p:nvPicPr>
        <p:blipFill>
          <a:blip r:embed="rId3"/>
          <a:stretch>
            <a:fillRect/>
          </a:stretch>
        </p:blipFill>
        <p:spPr>
          <a:xfrm>
            <a:off x="6236208" y="3840480"/>
            <a:ext cx="5596128" cy="2423160"/>
          </a:xfrm>
          <a:prstGeom prst="rect">
            <a:avLst/>
          </a:prstGeom>
        </p:spPr>
      </p:pic>
      <p:sp>
        <p:nvSpPr>
          <p:cNvPr id="37" name="TextBox 36"/>
          <p:cNvSpPr txBox="1"/>
          <p:nvPr/>
        </p:nvSpPr>
        <p:spPr>
          <a:xfrm>
            <a:off x="6236208" y="6281928"/>
            <a:ext cx="5596128" cy="256032"/>
          </a:xfrm>
          <a:prstGeom prst="rect">
            <a:avLst/>
          </a:prstGeom>
          <a:noFill/>
        </p:spPr>
        <p:txBody>
          <a:bodyPr wrap="square">
            <a:spAutoFit/>
          </a:bodyPr>
          <a:lstStyle/>
          <a:p>
            <a:pPr algn="ctr"/>
            <a:r>
              <a:rPr sz="950" b="0" i="1">
                <a:solidFill>
                  <a:srgbClr val="546E7A"/>
                </a:solidFill>
                <a:latin typeface="Calibri"/>
              </a:rPr>
              <a:t>Fig 7: Violin plot of price per agency — FlyingDrops widest spread; Rainbow/CloudFy tightly concentrated at specific price points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Data Wrangling &amp; Feature Engineering</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Clean data, resolve quality issues, and engineer predictive features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Prepare the merged travel dataset for ML modelling — resolve data types, handle missing values, remove redundancy, and create new features that improve model performance.</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pd.merge() on travelCode; pd.to_datetime(); drop duplicate columns; median imputation for hotel nulls; Log10 transformation on price; StandardScaler; categorical encoding</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0040" y="2359152"/>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359152"/>
            <a:ext cx="5760720" cy="73152"/>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11480" y="2496312"/>
            <a:ext cx="2743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496312"/>
            <a:ext cx="274320" cy="274320"/>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77240" y="2523744"/>
            <a:ext cx="5212080" cy="256032"/>
          </a:xfrm>
          <a:prstGeom prst="rect">
            <a:avLst/>
          </a:prstGeom>
          <a:noFill/>
        </p:spPr>
        <p:txBody>
          <a:bodyPr wrap="square">
            <a:spAutoFit/>
          </a:bodyPr>
          <a:lstStyle/>
          <a:p>
            <a:pPr algn="l"/>
            <a:r>
              <a:rPr sz="1300" b="1" i="0">
                <a:solidFill>
                  <a:srgbClr val="1D4F58"/>
                </a:solidFill>
                <a:latin typeface="Calibri"/>
              </a:rPr>
              <a:t>Duplicate Column Dropped</a:t>
            </a:r>
          </a:p>
        </p:txBody>
      </p:sp>
      <p:sp>
        <p:nvSpPr>
          <p:cNvPr id="21" name="TextBox 20"/>
          <p:cNvSpPr txBox="1"/>
          <p:nvPr/>
        </p:nvSpPr>
        <p:spPr>
          <a:xfrm>
            <a:off x="429768" y="2834640"/>
            <a:ext cx="5577840" cy="658368"/>
          </a:xfrm>
          <a:prstGeom prst="rect">
            <a:avLst/>
          </a:prstGeom>
          <a:noFill/>
        </p:spPr>
        <p:txBody>
          <a:bodyPr wrap="square">
            <a:spAutoFit/>
          </a:bodyPr>
          <a:lstStyle/>
          <a:p>
            <a:pPr algn="l"/>
            <a:r>
              <a:rPr sz="1050" b="0" i="0">
                <a:solidFill>
                  <a:srgbClr val="212121"/>
                </a:solidFill>
                <a:latin typeface="Calibri"/>
              </a:rPr>
              <a:t>ISSUE: The merged dataset contained a redundant 'code' column duplicating travelCode.
ACTION: Dropped 'code' column immediately after merge.
RESULT: Clean schema — no redundant identifiers that could confuse models.</a:t>
            </a:r>
          </a:p>
        </p:txBody>
      </p:sp>
      <p:sp>
        <p:nvSpPr>
          <p:cNvPr id="22" name="Rounded Rectangle 21"/>
          <p:cNvSpPr/>
          <p:nvPr/>
        </p:nvSpPr>
        <p:spPr>
          <a:xfrm>
            <a:off x="6263640" y="2359152"/>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63640" y="2359152"/>
            <a:ext cx="5760720" cy="731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55080" y="2496312"/>
            <a:ext cx="274320" cy="274320"/>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2496312"/>
            <a:ext cx="274320" cy="274320"/>
          </a:xfrm>
          <a:prstGeom prst="rect">
            <a:avLst/>
          </a:prstGeom>
          <a:noFill/>
        </p:spPr>
        <p:txBody>
          <a:bodyPr wrap="square">
            <a:spAutoFit/>
          </a:bodyPr>
          <a:lstStyle/>
          <a:p>
            <a:pPr algn="ctr"/>
            <a:r>
              <a:rPr sz="1100" b="1" i="0">
                <a:solidFill>
                  <a:srgbClr val="FFFFFF"/>
                </a:solidFill>
                <a:latin typeface="Calibri"/>
              </a:rPr>
              <a:t>2</a:t>
            </a:r>
          </a:p>
        </p:txBody>
      </p:sp>
      <p:sp>
        <p:nvSpPr>
          <p:cNvPr id="26" name="TextBox 25"/>
          <p:cNvSpPr txBox="1"/>
          <p:nvPr/>
        </p:nvSpPr>
        <p:spPr>
          <a:xfrm>
            <a:off x="6720840" y="2523744"/>
            <a:ext cx="5212080" cy="256032"/>
          </a:xfrm>
          <a:prstGeom prst="rect">
            <a:avLst/>
          </a:prstGeom>
          <a:noFill/>
        </p:spPr>
        <p:txBody>
          <a:bodyPr wrap="square">
            <a:spAutoFit/>
          </a:bodyPr>
          <a:lstStyle/>
          <a:p>
            <a:pPr algn="l"/>
            <a:r>
              <a:rPr sz="1300" b="1" i="0">
                <a:solidFill>
                  <a:srgbClr val="1565C0"/>
                </a:solidFill>
                <a:latin typeface="Calibri"/>
              </a:rPr>
              <a:t>DateTime Conversion</a:t>
            </a:r>
          </a:p>
        </p:txBody>
      </p:sp>
      <p:sp>
        <p:nvSpPr>
          <p:cNvPr id="27" name="TextBox 26"/>
          <p:cNvSpPr txBox="1"/>
          <p:nvPr/>
        </p:nvSpPr>
        <p:spPr>
          <a:xfrm>
            <a:off x="6373368" y="2834640"/>
            <a:ext cx="5577840" cy="658368"/>
          </a:xfrm>
          <a:prstGeom prst="rect">
            <a:avLst/>
          </a:prstGeom>
          <a:noFill/>
        </p:spPr>
        <p:txBody>
          <a:bodyPr wrap="square">
            <a:spAutoFit/>
          </a:bodyPr>
          <a:lstStyle/>
          <a:p>
            <a:pPr algn="l"/>
            <a:r>
              <a:rPr sz="1050" b="0" i="0">
                <a:solidFill>
                  <a:srgbClr val="212121"/>
                </a:solidFill>
                <a:latin typeface="Calibri"/>
              </a:rPr>
              <a:t>ISSUE: 'date' and 'hotel_date' stored as strings — temporal features inaccessible.
ACTION: pd.to_datetime() conversion; extracted year, month, day-of-week.
RESULT: Temporal features available for trend analysis and seasonal regression.</a:t>
            </a:r>
          </a:p>
        </p:txBody>
      </p:sp>
      <p:sp>
        <p:nvSpPr>
          <p:cNvPr id="28" name="Rounded Rectangle 27"/>
          <p:cNvSpPr/>
          <p:nvPr/>
        </p:nvSpPr>
        <p:spPr>
          <a:xfrm>
            <a:off x="320040" y="3657600"/>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3657600"/>
            <a:ext cx="57607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11480" y="3794760"/>
            <a:ext cx="2743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3794760"/>
            <a:ext cx="274320" cy="274320"/>
          </a:xfrm>
          <a:prstGeom prst="rect">
            <a:avLst/>
          </a:prstGeom>
          <a:noFill/>
        </p:spPr>
        <p:txBody>
          <a:bodyPr wrap="square">
            <a:spAutoFit/>
          </a:bodyPr>
          <a:lstStyle/>
          <a:p>
            <a:pPr algn="ctr"/>
            <a:r>
              <a:rPr sz="1100" b="1" i="0">
                <a:solidFill>
                  <a:srgbClr val="FFFFFF"/>
                </a:solidFill>
                <a:latin typeface="Calibri"/>
              </a:rPr>
              <a:t>3</a:t>
            </a:r>
          </a:p>
        </p:txBody>
      </p:sp>
      <p:sp>
        <p:nvSpPr>
          <p:cNvPr id="32" name="TextBox 31"/>
          <p:cNvSpPr txBox="1"/>
          <p:nvPr/>
        </p:nvSpPr>
        <p:spPr>
          <a:xfrm>
            <a:off x="777240" y="3822192"/>
            <a:ext cx="5212080" cy="256032"/>
          </a:xfrm>
          <a:prstGeom prst="rect">
            <a:avLst/>
          </a:prstGeom>
          <a:noFill/>
        </p:spPr>
        <p:txBody>
          <a:bodyPr wrap="square">
            <a:spAutoFit/>
          </a:bodyPr>
          <a:lstStyle/>
          <a:p>
            <a:pPr algn="l"/>
            <a:r>
              <a:rPr sz="1300" b="1" i="0">
                <a:solidFill>
                  <a:srgbClr val="F59E0B"/>
                </a:solidFill>
                <a:latin typeface="Calibri"/>
              </a:rPr>
              <a:t>Hotel Null Imputation</a:t>
            </a:r>
          </a:p>
        </p:txBody>
      </p:sp>
      <p:sp>
        <p:nvSpPr>
          <p:cNvPr id="33" name="TextBox 32"/>
          <p:cNvSpPr txBox="1"/>
          <p:nvPr/>
        </p:nvSpPr>
        <p:spPr>
          <a:xfrm>
            <a:off x="429768" y="4133088"/>
            <a:ext cx="5577840" cy="658368"/>
          </a:xfrm>
          <a:prstGeom prst="rect">
            <a:avLst/>
          </a:prstGeom>
          <a:noFill/>
        </p:spPr>
        <p:txBody>
          <a:bodyPr wrap="square">
            <a:spAutoFit/>
          </a:bodyPr>
          <a:lstStyle/>
          <a:p>
            <a:pPr algn="l"/>
            <a:r>
              <a:rPr sz="1050" b="0" i="0">
                <a:solidFill>
                  <a:srgbClr val="212121"/>
                </a:solidFill>
                <a:latin typeface="Calibri"/>
              </a:rPr>
              <a:t>ISSUE: 190,784 null values in hotel columns (70% of data — flight-only bookings).
ACTION: hotel_name → 'No Hotel'; hotel_price → 0; place → 'None'.
RESULT: Nulls resolved without data loss; 'has_hotel' binary flag added.</a:t>
            </a:r>
          </a:p>
        </p:txBody>
      </p:sp>
      <p:sp>
        <p:nvSpPr>
          <p:cNvPr id="34" name="Rounded Rectangle 33"/>
          <p:cNvSpPr/>
          <p:nvPr/>
        </p:nvSpPr>
        <p:spPr>
          <a:xfrm>
            <a:off x="6263640" y="3657600"/>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63640" y="3657600"/>
            <a:ext cx="5760720"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55080" y="3794760"/>
            <a:ext cx="274320" cy="274320"/>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3794760"/>
            <a:ext cx="274320" cy="274320"/>
          </a:xfrm>
          <a:prstGeom prst="rect">
            <a:avLst/>
          </a:prstGeom>
          <a:noFill/>
        </p:spPr>
        <p:txBody>
          <a:bodyPr wrap="square">
            <a:spAutoFit/>
          </a:bodyPr>
          <a:lstStyle/>
          <a:p>
            <a:pPr algn="ctr"/>
            <a:r>
              <a:rPr sz="1100" b="1" i="0">
                <a:solidFill>
                  <a:srgbClr val="FFFFFF"/>
                </a:solidFill>
                <a:latin typeface="Calibri"/>
              </a:rPr>
              <a:t>4</a:t>
            </a:r>
          </a:p>
        </p:txBody>
      </p:sp>
      <p:sp>
        <p:nvSpPr>
          <p:cNvPr id="38" name="TextBox 37"/>
          <p:cNvSpPr txBox="1"/>
          <p:nvPr/>
        </p:nvSpPr>
        <p:spPr>
          <a:xfrm>
            <a:off x="6720840" y="3822192"/>
            <a:ext cx="5212080" cy="256032"/>
          </a:xfrm>
          <a:prstGeom prst="rect">
            <a:avLst/>
          </a:prstGeom>
          <a:noFill/>
        </p:spPr>
        <p:txBody>
          <a:bodyPr wrap="square">
            <a:spAutoFit/>
          </a:bodyPr>
          <a:lstStyle/>
          <a:p>
            <a:pPr algn="l"/>
            <a:r>
              <a:rPr sz="1300" b="1" i="0">
                <a:solidFill>
                  <a:srgbClr val="2E7D32"/>
                </a:solidFill>
                <a:latin typeface="Calibri"/>
              </a:rPr>
              <a:t>Log10 Price Transformation</a:t>
            </a:r>
          </a:p>
        </p:txBody>
      </p:sp>
      <p:sp>
        <p:nvSpPr>
          <p:cNvPr id="39" name="TextBox 38"/>
          <p:cNvSpPr txBox="1"/>
          <p:nvPr/>
        </p:nvSpPr>
        <p:spPr>
          <a:xfrm>
            <a:off x="6373368" y="4133088"/>
            <a:ext cx="5577840" cy="658368"/>
          </a:xfrm>
          <a:prstGeom prst="rect">
            <a:avLst/>
          </a:prstGeom>
          <a:noFill/>
        </p:spPr>
        <p:txBody>
          <a:bodyPr wrap="square">
            <a:spAutoFit/>
          </a:bodyPr>
          <a:lstStyle/>
          <a:p>
            <a:pPr algn="l"/>
            <a:r>
              <a:rPr sz="1050" b="0" i="0">
                <a:solidFill>
                  <a:srgbClr val="212121"/>
                </a:solidFill>
                <a:latin typeface="Calibri"/>
              </a:rPr>
              <a:t>ISSUE: 'price' column right-skewed — regression models perform better on symmetric targets.
ACTION: Applied log10(price) transformation to target variable.
RESULT: Skewness reduced significantly; residuals closer to normality for linear regression.</a:t>
            </a:r>
          </a:p>
        </p:txBody>
      </p:sp>
      <p:sp>
        <p:nvSpPr>
          <p:cNvPr id="40" name="Rounded Rectangle 39"/>
          <p:cNvSpPr/>
          <p:nvPr/>
        </p:nvSpPr>
        <p:spPr>
          <a:xfrm>
            <a:off x="320040" y="4956048"/>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20040" y="4956048"/>
            <a:ext cx="5760720" cy="7315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11480" y="5093208"/>
            <a:ext cx="274320" cy="274320"/>
          </a:xfrm>
          <a:prstGeom prst="roundRect">
            <a:avLst>
              <a:gd name="adj" fmla="val 6000"/>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11480" y="5093208"/>
            <a:ext cx="274320" cy="274320"/>
          </a:xfrm>
          <a:prstGeom prst="rect">
            <a:avLst/>
          </a:prstGeom>
          <a:noFill/>
        </p:spPr>
        <p:txBody>
          <a:bodyPr wrap="square">
            <a:spAutoFit/>
          </a:bodyPr>
          <a:lstStyle/>
          <a:p>
            <a:pPr algn="ctr"/>
            <a:r>
              <a:rPr sz="1100" b="1" i="0">
                <a:solidFill>
                  <a:srgbClr val="FFFFFF"/>
                </a:solidFill>
                <a:latin typeface="Calibri"/>
              </a:rPr>
              <a:t>5</a:t>
            </a:r>
          </a:p>
        </p:txBody>
      </p:sp>
      <p:sp>
        <p:nvSpPr>
          <p:cNvPr id="44" name="TextBox 43"/>
          <p:cNvSpPr txBox="1"/>
          <p:nvPr/>
        </p:nvSpPr>
        <p:spPr>
          <a:xfrm>
            <a:off x="777240" y="5120640"/>
            <a:ext cx="5212080" cy="256032"/>
          </a:xfrm>
          <a:prstGeom prst="rect">
            <a:avLst/>
          </a:prstGeom>
          <a:noFill/>
        </p:spPr>
        <p:txBody>
          <a:bodyPr wrap="square">
            <a:spAutoFit/>
          </a:bodyPr>
          <a:lstStyle/>
          <a:p>
            <a:pPr algn="l"/>
            <a:r>
              <a:rPr sz="1300" b="1" i="0">
                <a:solidFill>
                  <a:srgbClr val="6A1B9A"/>
                </a:solidFill>
                <a:latin typeface="Calibri"/>
              </a:rPr>
              <a:t>VIF Analysis — Multicollinearity</a:t>
            </a:r>
          </a:p>
        </p:txBody>
      </p:sp>
      <p:sp>
        <p:nvSpPr>
          <p:cNvPr id="45" name="TextBox 44"/>
          <p:cNvSpPr txBox="1"/>
          <p:nvPr/>
        </p:nvSpPr>
        <p:spPr>
          <a:xfrm>
            <a:off x="429768" y="5431536"/>
            <a:ext cx="5577840" cy="658368"/>
          </a:xfrm>
          <a:prstGeom prst="rect">
            <a:avLst/>
          </a:prstGeom>
          <a:noFill/>
        </p:spPr>
        <p:txBody>
          <a:bodyPr wrap="square">
            <a:spAutoFit/>
          </a:bodyPr>
          <a:lstStyle/>
          <a:p>
            <a:pPr algn="l"/>
            <a:r>
              <a:rPr sz="1050" b="0" i="0">
                <a:solidFill>
                  <a:srgbClr val="212121"/>
                </a:solidFill>
                <a:latin typeface="Calibri"/>
              </a:rPr>
              <a:t>ISSUE: time and distance perfectly correlated (VIF=∞) — multicollinearity would destabilise linear models.
ACTION: Retained both but applied Ridge/ElasticNet regularisation to handle VIF.
RESULT: Models trained without numerical instability; time retained (carries unique booking info).</a:t>
            </a:r>
          </a:p>
        </p:txBody>
      </p:sp>
      <p:sp>
        <p:nvSpPr>
          <p:cNvPr id="46" name="Rounded Rectangle 45"/>
          <p:cNvSpPr/>
          <p:nvPr/>
        </p:nvSpPr>
        <p:spPr>
          <a:xfrm>
            <a:off x="6263640" y="4956048"/>
            <a:ext cx="5760720" cy="1188720"/>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263640" y="4956048"/>
            <a:ext cx="5760720" cy="7315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355080" y="5093208"/>
            <a:ext cx="274320" cy="274320"/>
          </a:xfrm>
          <a:prstGeom prst="roundRect">
            <a:avLst>
              <a:gd name="adj" fmla="val 6000"/>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55080" y="5093208"/>
            <a:ext cx="274320" cy="274320"/>
          </a:xfrm>
          <a:prstGeom prst="rect">
            <a:avLst/>
          </a:prstGeom>
          <a:noFill/>
        </p:spPr>
        <p:txBody>
          <a:bodyPr wrap="square">
            <a:spAutoFit/>
          </a:bodyPr>
          <a:lstStyle/>
          <a:p>
            <a:pPr algn="ctr"/>
            <a:r>
              <a:rPr sz="1100" b="1" i="0">
                <a:solidFill>
                  <a:srgbClr val="FFFFFF"/>
                </a:solidFill>
                <a:latin typeface="Calibri"/>
              </a:rPr>
              <a:t>6</a:t>
            </a:r>
          </a:p>
        </p:txBody>
      </p:sp>
      <p:sp>
        <p:nvSpPr>
          <p:cNvPr id="50" name="TextBox 49"/>
          <p:cNvSpPr txBox="1"/>
          <p:nvPr/>
        </p:nvSpPr>
        <p:spPr>
          <a:xfrm>
            <a:off x="6720840" y="5120640"/>
            <a:ext cx="5212080" cy="256032"/>
          </a:xfrm>
          <a:prstGeom prst="rect">
            <a:avLst/>
          </a:prstGeom>
          <a:noFill/>
        </p:spPr>
        <p:txBody>
          <a:bodyPr wrap="square">
            <a:spAutoFit/>
          </a:bodyPr>
          <a:lstStyle/>
          <a:p>
            <a:pPr algn="l"/>
            <a:r>
              <a:rPr sz="1300" b="1" i="0">
                <a:solidFill>
                  <a:srgbClr val="E65C00"/>
                </a:solidFill>
                <a:latin typeface="Calibri"/>
              </a:rPr>
              <a:t>StandardScaler Normalisation</a:t>
            </a:r>
          </a:p>
        </p:txBody>
      </p:sp>
      <p:sp>
        <p:nvSpPr>
          <p:cNvPr id="51" name="TextBox 50"/>
          <p:cNvSpPr txBox="1"/>
          <p:nvPr/>
        </p:nvSpPr>
        <p:spPr>
          <a:xfrm>
            <a:off x="6373368" y="5431536"/>
            <a:ext cx="5577840" cy="658368"/>
          </a:xfrm>
          <a:prstGeom prst="rect">
            <a:avLst/>
          </a:prstGeom>
          <a:noFill/>
        </p:spPr>
        <p:txBody>
          <a:bodyPr wrap="square">
            <a:spAutoFit/>
          </a:bodyPr>
          <a:lstStyle/>
          <a:p>
            <a:pPr algn="l"/>
            <a:r>
              <a:rPr sz="1050" b="0" i="0">
                <a:solidFill>
                  <a:srgbClr val="212121"/>
                </a:solidFill>
                <a:latin typeface="Calibri"/>
              </a:rPr>
              <a:t>ISSUE: price (0–5000), distance (100–3000), age (20–80) on vastly different scales.
ACTION: StandardScaler applied to all numeric features before modelling.
RESULT: All features on unit scale; gradient-based models converge faster and more stably.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Model 1 — Flight Price Prediction (Regression)</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Predict ticket price from flight and user features with maximum accuracy</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Build and compare multiple regression models to predict flight ticket price — identify the best performer and understand which features drive price predictions most.</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623248"/>
          </a:xfrm>
          <a:prstGeom prst="rect">
            <a:avLst/>
          </a:prstGeom>
          <a:noFill/>
        </p:spPr>
        <p:txBody>
          <a:bodyPr wrap="square">
            <a:spAutoFit/>
          </a:bodyPr>
          <a:lstStyle/>
          <a:p>
            <a:pPr algn="l"/>
            <a:r>
              <a:rPr sz="1150" b="1" i="0" dirty="0">
                <a:solidFill>
                  <a:srgbClr val="1D4F58"/>
                </a:solidFill>
                <a:latin typeface="Calibri"/>
              </a:rPr>
              <a:t>6 regression models compared: Linear Regression, Ridge, Lasso, </a:t>
            </a:r>
            <a:r>
              <a:rPr sz="1150" b="1" i="0" dirty="0" err="1">
                <a:solidFill>
                  <a:srgbClr val="1D4F58"/>
                </a:solidFill>
                <a:latin typeface="Calibri"/>
              </a:rPr>
              <a:t>ElasticNet</a:t>
            </a:r>
            <a:r>
              <a:rPr sz="1150" b="1" i="0" dirty="0">
                <a:solidFill>
                  <a:srgbClr val="1D4F58"/>
                </a:solidFill>
                <a:latin typeface="Calibri"/>
              </a:rPr>
              <a:t>,</a:t>
            </a:r>
            <a:endParaRPr lang="en-US" sz="1150" b="1" i="0" dirty="0">
              <a:solidFill>
                <a:srgbClr val="1D4F58"/>
              </a:solidFill>
              <a:latin typeface="Calibri"/>
            </a:endParaRPr>
          </a:p>
          <a:p>
            <a:pPr algn="l"/>
            <a:r>
              <a:rPr sz="1150" b="1" i="0" dirty="0">
                <a:solidFill>
                  <a:srgbClr val="1D4F58"/>
                </a:solidFill>
                <a:latin typeface="Calibri"/>
              </a:rPr>
              <a:t> Decision Tree, Random Forest; 80/20 train-test split; R², MAE,</a:t>
            </a:r>
            <a:endParaRPr lang="en-US" sz="1150" b="1" i="0" dirty="0">
              <a:solidFill>
                <a:srgbClr val="1D4F58"/>
              </a:solidFill>
              <a:latin typeface="Calibri"/>
            </a:endParaRPr>
          </a:p>
          <a:p>
            <a:pPr algn="l"/>
            <a:r>
              <a:rPr sz="1150" b="1" i="0" dirty="0">
                <a:solidFill>
                  <a:srgbClr val="1D4F58"/>
                </a:solidFill>
                <a:latin typeface="Calibri"/>
              </a:rPr>
              <a:t> RMSE evaluation metrics</a:t>
            </a:r>
          </a:p>
        </p:txBody>
      </p:sp>
      <p:sp>
        <p:nvSpPr>
          <p:cNvPr id="15" name="Rectangle 14"/>
          <p:cNvSpPr/>
          <p:nvPr/>
        </p:nvSpPr>
        <p:spPr>
          <a:xfrm>
            <a:off x="347472" y="232526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429613"/>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713077"/>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831949"/>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859381"/>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831949"/>
            <a:ext cx="5349240" cy="256032"/>
          </a:xfrm>
          <a:prstGeom prst="rect">
            <a:avLst/>
          </a:prstGeom>
          <a:noFill/>
        </p:spPr>
        <p:txBody>
          <a:bodyPr wrap="square">
            <a:spAutoFit/>
          </a:bodyPr>
          <a:lstStyle/>
          <a:p>
            <a:pPr algn="l"/>
            <a:r>
              <a:rPr sz="1300" b="1" i="0">
                <a:solidFill>
                  <a:srgbClr val="1D4F58"/>
                </a:solidFill>
                <a:latin typeface="Calibri"/>
              </a:rPr>
              <a:t>Random Forest achieves R² ≈ 1 (near-perfect)</a:t>
            </a:r>
          </a:p>
        </p:txBody>
      </p:sp>
      <p:sp>
        <p:nvSpPr>
          <p:cNvPr id="21" name="TextBox 20"/>
          <p:cNvSpPr txBox="1"/>
          <p:nvPr/>
        </p:nvSpPr>
        <p:spPr>
          <a:xfrm>
            <a:off x="731520" y="3106269"/>
            <a:ext cx="5349240" cy="420624"/>
          </a:xfrm>
          <a:prstGeom prst="rect">
            <a:avLst/>
          </a:prstGeom>
          <a:noFill/>
        </p:spPr>
        <p:txBody>
          <a:bodyPr wrap="square">
            <a:spAutoFit/>
          </a:bodyPr>
          <a:lstStyle/>
          <a:p>
            <a:pPr algn="l"/>
            <a:r>
              <a:rPr sz="1150" b="0" i="0">
                <a:solidFill>
                  <a:srgbClr val="212121"/>
                </a:solidFill>
                <a:latin typeface="Calibri"/>
              </a:rPr>
              <a:t>Random Forest Regressor and Decision Tree both achieve R² values extremely close to 1.0, explaining almost all variance in ticket price. This is because tree-based models can perfectly capture the non-linear relationship between distance/time and price.</a:t>
            </a:r>
          </a:p>
        </p:txBody>
      </p:sp>
      <p:sp>
        <p:nvSpPr>
          <p:cNvPr id="22" name="Rounded Rectangle 21"/>
          <p:cNvSpPr/>
          <p:nvPr/>
        </p:nvSpPr>
        <p:spPr>
          <a:xfrm>
            <a:off x="347472" y="3738818"/>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766250"/>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738818"/>
            <a:ext cx="5349240" cy="256032"/>
          </a:xfrm>
          <a:prstGeom prst="rect">
            <a:avLst/>
          </a:prstGeom>
          <a:noFill/>
        </p:spPr>
        <p:txBody>
          <a:bodyPr wrap="square">
            <a:spAutoFit/>
          </a:bodyPr>
          <a:lstStyle/>
          <a:p>
            <a:pPr algn="l"/>
            <a:r>
              <a:rPr sz="1300" b="1" i="0">
                <a:solidFill>
                  <a:srgbClr val="1565C0"/>
                </a:solidFill>
                <a:latin typeface="Calibri"/>
              </a:rPr>
              <a:t>ElasticNet (linear) significantly underperforms</a:t>
            </a:r>
          </a:p>
        </p:txBody>
      </p:sp>
      <p:sp>
        <p:nvSpPr>
          <p:cNvPr id="25" name="TextBox 24"/>
          <p:cNvSpPr txBox="1"/>
          <p:nvPr/>
        </p:nvSpPr>
        <p:spPr>
          <a:xfrm>
            <a:off x="731520" y="4013138"/>
            <a:ext cx="5349240" cy="420624"/>
          </a:xfrm>
          <a:prstGeom prst="rect">
            <a:avLst/>
          </a:prstGeom>
          <a:noFill/>
        </p:spPr>
        <p:txBody>
          <a:bodyPr wrap="square">
            <a:spAutoFit/>
          </a:bodyPr>
          <a:lstStyle/>
          <a:p>
            <a:pPr algn="l"/>
            <a:r>
              <a:rPr sz="1150" b="0" i="0">
                <a:solidFill>
                  <a:srgbClr val="212121"/>
                </a:solidFill>
                <a:latin typeface="Calibri"/>
              </a:rPr>
              <a:t>ElasticNet regression has a substantially lower R² — confirming that the price↔distance relationship, while appearing linear in correlation plots, has important non-linear components that only tree-based models capture.</a:t>
            </a:r>
          </a:p>
        </p:txBody>
      </p:sp>
      <p:sp>
        <p:nvSpPr>
          <p:cNvPr id="26" name="Rounded Rectangle 25"/>
          <p:cNvSpPr/>
          <p:nvPr/>
        </p:nvSpPr>
        <p:spPr>
          <a:xfrm>
            <a:off x="347472" y="4578452"/>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605884"/>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578452"/>
            <a:ext cx="5349240" cy="256032"/>
          </a:xfrm>
          <a:prstGeom prst="rect">
            <a:avLst/>
          </a:prstGeom>
          <a:noFill/>
        </p:spPr>
        <p:txBody>
          <a:bodyPr wrap="square">
            <a:spAutoFit/>
          </a:bodyPr>
          <a:lstStyle/>
          <a:p>
            <a:pPr algn="l"/>
            <a:r>
              <a:rPr sz="1300" b="1" i="0">
                <a:solidFill>
                  <a:srgbClr val="F59E0B"/>
                </a:solidFill>
                <a:latin typeface="Calibri"/>
              </a:rPr>
              <a:t>Top features: distance, time, flightType, agency</a:t>
            </a:r>
          </a:p>
        </p:txBody>
      </p:sp>
      <p:sp>
        <p:nvSpPr>
          <p:cNvPr id="29" name="TextBox 28"/>
          <p:cNvSpPr txBox="1"/>
          <p:nvPr/>
        </p:nvSpPr>
        <p:spPr>
          <a:xfrm>
            <a:off x="731520" y="4852772"/>
            <a:ext cx="5349240" cy="420624"/>
          </a:xfrm>
          <a:prstGeom prst="rect">
            <a:avLst/>
          </a:prstGeom>
          <a:noFill/>
        </p:spPr>
        <p:txBody>
          <a:bodyPr wrap="square">
            <a:spAutoFit/>
          </a:bodyPr>
          <a:lstStyle/>
          <a:p>
            <a:pPr algn="l"/>
            <a:r>
              <a:rPr sz="1150" b="0" i="0">
                <a:solidFill>
                  <a:srgbClr val="212121"/>
                </a:solidFill>
                <a:latin typeface="Calibri"/>
              </a:rPr>
              <a:t>Feature importance from Random Forest confirms: distance and time are the primary price drivers (reflecting route length). flightType (first class premium) and agency (pricing tier) are the next most important features.</a:t>
            </a:r>
          </a:p>
        </p:txBody>
      </p:sp>
      <p:sp>
        <p:nvSpPr>
          <p:cNvPr id="30" name="Rounded Rectangle 29"/>
          <p:cNvSpPr/>
          <p:nvPr/>
        </p:nvSpPr>
        <p:spPr>
          <a:xfrm>
            <a:off x="347472" y="5444980"/>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5472412"/>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5444980"/>
            <a:ext cx="5349240" cy="256032"/>
          </a:xfrm>
          <a:prstGeom prst="rect">
            <a:avLst/>
          </a:prstGeom>
          <a:noFill/>
        </p:spPr>
        <p:txBody>
          <a:bodyPr wrap="square">
            <a:spAutoFit/>
          </a:bodyPr>
          <a:lstStyle/>
          <a:p>
            <a:pPr algn="l"/>
            <a:r>
              <a:rPr sz="1300" b="1" i="0">
                <a:solidFill>
                  <a:srgbClr val="2E7D32"/>
                </a:solidFill>
                <a:latin typeface="Calibri"/>
              </a:rPr>
              <a:t>Cross-validation &amp; hyperparameter tuning applied</a:t>
            </a:r>
          </a:p>
        </p:txBody>
      </p:sp>
      <p:sp>
        <p:nvSpPr>
          <p:cNvPr id="33" name="TextBox 32"/>
          <p:cNvSpPr txBox="1"/>
          <p:nvPr/>
        </p:nvSpPr>
        <p:spPr>
          <a:xfrm>
            <a:off x="731520" y="5719300"/>
            <a:ext cx="5349240" cy="420624"/>
          </a:xfrm>
          <a:prstGeom prst="rect">
            <a:avLst/>
          </a:prstGeom>
          <a:noFill/>
        </p:spPr>
        <p:txBody>
          <a:bodyPr wrap="square">
            <a:spAutoFit/>
          </a:bodyPr>
          <a:lstStyle/>
          <a:p>
            <a:pPr algn="l"/>
            <a:r>
              <a:rPr sz="1150" b="0" i="0">
                <a:solidFill>
                  <a:srgbClr val="212121"/>
                </a:solidFill>
                <a:latin typeface="Calibri"/>
              </a:rPr>
              <a:t>GridSearchCV was applied to Random Forest hyperparameters (n_estimators, max_depth, min_samples_split). Cross-validated R² confirmed the model generalises well, not just fitting training data.</a:t>
            </a:r>
          </a:p>
        </p:txBody>
      </p:sp>
      <p:pic>
        <p:nvPicPr>
          <p:cNvPr id="34" name="Picture 33" descr="out_182_16.png"/>
          <p:cNvPicPr>
            <a:picLocks noChangeAspect="1"/>
          </p:cNvPicPr>
          <p:nvPr/>
        </p:nvPicPr>
        <p:blipFill>
          <a:blip r:embed="rId2"/>
          <a:stretch>
            <a:fillRect/>
          </a:stretch>
        </p:blipFill>
        <p:spPr>
          <a:xfrm>
            <a:off x="6236208" y="1261872"/>
            <a:ext cx="5596128" cy="5074920"/>
          </a:xfrm>
          <a:prstGeom prst="rect">
            <a:avLst/>
          </a:prstGeom>
        </p:spPr>
      </p:pic>
      <p:sp>
        <p:nvSpPr>
          <p:cNvPr id="35" name="TextBox 34"/>
          <p:cNvSpPr txBox="1"/>
          <p:nvPr/>
        </p:nvSpPr>
        <p:spPr>
          <a:xfrm>
            <a:off x="6364224" y="6124194"/>
            <a:ext cx="5596128" cy="256032"/>
          </a:xfrm>
          <a:prstGeom prst="rect">
            <a:avLst/>
          </a:prstGeom>
          <a:noFill/>
        </p:spPr>
        <p:txBody>
          <a:bodyPr wrap="square">
            <a:spAutoFit/>
          </a:bodyPr>
          <a:lstStyle/>
          <a:p>
            <a:pPr algn="ctr"/>
            <a:r>
              <a:rPr sz="950" b="0" i="1" dirty="0">
                <a:solidFill>
                  <a:srgbClr val="546E7A"/>
                </a:solidFill>
                <a:latin typeface="Calibri"/>
              </a:rPr>
              <a:t>Fig 8: Model comparison (R² and MAE) — Random Forest and Decision Tree achieve near-perfect R²; </a:t>
            </a:r>
            <a:r>
              <a:rPr sz="950" b="0" i="1" dirty="0" err="1">
                <a:solidFill>
                  <a:srgbClr val="546E7A"/>
                </a:solidFill>
                <a:latin typeface="Calibri"/>
              </a:rPr>
              <a:t>ElasticNet</a:t>
            </a:r>
            <a:r>
              <a:rPr sz="950" b="0" i="1" dirty="0">
                <a:solidFill>
                  <a:srgbClr val="546E7A"/>
                </a:solidFill>
                <a:latin typeface="Calibri"/>
              </a:rPr>
              <a:t> linear model substantially lags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Price Prediction — Feature Importance &amp; Model Explainability</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What drives flight price — and how much?</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Use feature importance and SHAP values to explain which variables drive the Random Forest price predictions — providing interpretable insights alongside predictive accuracy.</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dirty="0" err="1">
                <a:solidFill>
                  <a:srgbClr val="1D4F58"/>
                </a:solidFill>
                <a:latin typeface="Calibri"/>
              </a:rPr>
              <a:t>model_rf.feature_importances</a:t>
            </a:r>
            <a:r>
              <a:rPr sz="1150" b="1" i="0" dirty="0">
                <a:solidFill>
                  <a:srgbClr val="1D4F58"/>
                </a:solidFill>
                <a:latin typeface="Calibri"/>
              </a:rPr>
              <a:t>_ → sorted bar chart; SHAP (</a:t>
            </a:r>
            <a:r>
              <a:rPr sz="1150" b="1" i="0" dirty="0" err="1">
                <a:solidFill>
                  <a:srgbClr val="1D4F58"/>
                </a:solidFill>
                <a:latin typeface="Calibri"/>
              </a:rPr>
              <a:t>SHapley</a:t>
            </a:r>
            <a:r>
              <a:rPr sz="1150" b="1" i="0" dirty="0">
                <a:solidFill>
                  <a:srgbClr val="1D4F58"/>
                </a:solidFill>
                <a:latin typeface="Calibri"/>
              </a:rPr>
              <a:t> Additive </a:t>
            </a:r>
            <a:r>
              <a:rPr sz="1150" b="1" i="0" dirty="0" err="1">
                <a:solidFill>
                  <a:srgbClr val="1D4F58"/>
                </a:solidFill>
                <a:latin typeface="Calibri"/>
              </a:rPr>
              <a:t>exPlanations</a:t>
            </a:r>
            <a:r>
              <a:rPr sz="1150" b="1" i="0" dirty="0">
                <a:solidFill>
                  <a:srgbClr val="1D4F58"/>
                </a:solidFill>
                <a:latin typeface="Calibri"/>
              </a:rPr>
              <a:t>) </a:t>
            </a:r>
            <a:r>
              <a:rPr sz="1150" b="1" i="0" dirty="0" err="1">
                <a:solidFill>
                  <a:srgbClr val="1D4F58"/>
                </a:solidFill>
                <a:latin typeface="Calibri"/>
              </a:rPr>
              <a:t>TreeExplainer</a:t>
            </a:r>
            <a:r>
              <a:rPr sz="1150" b="1" i="0" dirty="0">
                <a:solidFill>
                  <a:srgbClr val="1D4F58"/>
                </a:solidFill>
                <a:latin typeface="Calibri"/>
              </a:rPr>
              <a:t> on RF model; feature correlation heatmap for top predictors</a:t>
            </a:r>
          </a:p>
        </p:txBody>
      </p:sp>
      <p:sp>
        <p:nvSpPr>
          <p:cNvPr id="15" name="Rectangle 14"/>
          <p:cNvSpPr/>
          <p:nvPr/>
        </p:nvSpPr>
        <p:spPr>
          <a:xfrm>
            <a:off x="316686" y="2121408"/>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133779"/>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417243"/>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563009"/>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590441"/>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563009"/>
            <a:ext cx="5349240" cy="256032"/>
          </a:xfrm>
          <a:prstGeom prst="rect">
            <a:avLst/>
          </a:prstGeom>
          <a:noFill/>
        </p:spPr>
        <p:txBody>
          <a:bodyPr wrap="square">
            <a:spAutoFit/>
          </a:bodyPr>
          <a:lstStyle/>
          <a:p>
            <a:pPr algn="l"/>
            <a:r>
              <a:rPr sz="1300" b="1" i="0">
                <a:solidFill>
                  <a:srgbClr val="1D4F58"/>
                </a:solidFill>
                <a:latin typeface="Calibri"/>
              </a:rPr>
              <a:t>Distance is the dominant price driver</a:t>
            </a:r>
          </a:p>
        </p:txBody>
      </p:sp>
      <p:sp>
        <p:nvSpPr>
          <p:cNvPr id="21" name="TextBox 20"/>
          <p:cNvSpPr txBox="1"/>
          <p:nvPr/>
        </p:nvSpPr>
        <p:spPr>
          <a:xfrm>
            <a:off x="731520" y="2837329"/>
            <a:ext cx="5349240" cy="420624"/>
          </a:xfrm>
          <a:prstGeom prst="rect">
            <a:avLst/>
          </a:prstGeom>
          <a:noFill/>
        </p:spPr>
        <p:txBody>
          <a:bodyPr wrap="square">
            <a:spAutoFit/>
          </a:bodyPr>
          <a:lstStyle/>
          <a:p>
            <a:pPr algn="l"/>
            <a:r>
              <a:rPr sz="1150" b="0" i="0">
                <a:solidFill>
                  <a:srgbClr val="212121"/>
                </a:solidFill>
                <a:latin typeface="Calibri"/>
              </a:rPr>
              <a:t>Feature importance plot confirms distance as the single largest contributor to price prediction — consistent with EDA correlation finding (r=+0.64). Every additional kilometre adds a predictable price increment captured by the tree splits.</a:t>
            </a:r>
          </a:p>
        </p:txBody>
      </p:sp>
      <p:sp>
        <p:nvSpPr>
          <p:cNvPr id="22" name="Rounded Rectangle 21"/>
          <p:cNvSpPr/>
          <p:nvPr/>
        </p:nvSpPr>
        <p:spPr>
          <a:xfrm>
            <a:off x="347472" y="3321961"/>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349393"/>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321961"/>
            <a:ext cx="5349240" cy="256032"/>
          </a:xfrm>
          <a:prstGeom prst="rect">
            <a:avLst/>
          </a:prstGeom>
          <a:noFill/>
        </p:spPr>
        <p:txBody>
          <a:bodyPr wrap="square">
            <a:spAutoFit/>
          </a:bodyPr>
          <a:lstStyle/>
          <a:p>
            <a:pPr algn="l"/>
            <a:r>
              <a:rPr sz="1300" b="1" i="0">
                <a:solidFill>
                  <a:srgbClr val="1565C0"/>
                </a:solidFill>
                <a:latin typeface="Calibri"/>
              </a:rPr>
              <a:t>SHAP confirms non-linear distance→price relationship</a:t>
            </a:r>
          </a:p>
        </p:txBody>
      </p:sp>
      <p:sp>
        <p:nvSpPr>
          <p:cNvPr id="25" name="TextBox 24"/>
          <p:cNvSpPr txBox="1"/>
          <p:nvPr/>
        </p:nvSpPr>
        <p:spPr>
          <a:xfrm>
            <a:off x="731520" y="3596281"/>
            <a:ext cx="5349240" cy="420624"/>
          </a:xfrm>
          <a:prstGeom prst="rect">
            <a:avLst/>
          </a:prstGeom>
          <a:noFill/>
        </p:spPr>
        <p:txBody>
          <a:bodyPr wrap="square">
            <a:spAutoFit/>
          </a:bodyPr>
          <a:lstStyle/>
          <a:p>
            <a:pPr algn="l"/>
            <a:r>
              <a:rPr sz="1150" b="0" i="0">
                <a:solidFill>
                  <a:srgbClr val="212121"/>
                </a:solidFill>
                <a:latin typeface="Calibri"/>
              </a:rPr>
              <a:t>SHAP values reveal a non-linear (piecewise) relationship between distance and price — short routes are priced competitively; medium routes scale linearly; long-haul routes carry a premium that exceeds the linear extrapolation.</a:t>
            </a:r>
          </a:p>
        </p:txBody>
      </p:sp>
      <p:sp>
        <p:nvSpPr>
          <p:cNvPr id="26" name="Rounded Rectangle 25"/>
          <p:cNvSpPr/>
          <p:nvPr/>
        </p:nvSpPr>
        <p:spPr>
          <a:xfrm>
            <a:off x="347472" y="4080913"/>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108345"/>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4080913"/>
            <a:ext cx="5349240" cy="256032"/>
          </a:xfrm>
          <a:prstGeom prst="rect">
            <a:avLst/>
          </a:prstGeom>
          <a:noFill/>
        </p:spPr>
        <p:txBody>
          <a:bodyPr wrap="square">
            <a:spAutoFit/>
          </a:bodyPr>
          <a:lstStyle/>
          <a:p>
            <a:pPr algn="l"/>
            <a:r>
              <a:rPr sz="1300" b="1" i="0">
                <a:solidFill>
                  <a:srgbClr val="F59E0B"/>
                </a:solidFill>
                <a:latin typeface="Calibri"/>
              </a:rPr>
              <a:t>FlightType: first-class adds a fixed premium</a:t>
            </a:r>
          </a:p>
        </p:txBody>
      </p:sp>
      <p:sp>
        <p:nvSpPr>
          <p:cNvPr id="29" name="TextBox 28"/>
          <p:cNvSpPr txBox="1"/>
          <p:nvPr/>
        </p:nvSpPr>
        <p:spPr>
          <a:xfrm>
            <a:off x="731520" y="4355233"/>
            <a:ext cx="5349240" cy="420624"/>
          </a:xfrm>
          <a:prstGeom prst="rect">
            <a:avLst/>
          </a:prstGeom>
          <a:noFill/>
        </p:spPr>
        <p:txBody>
          <a:bodyPr wrap="square">
            <a:spAutoFit/>
          </a:bodyPr>
          <a:lstStyle/>
          <a:p>
            <a:pPr algn="l"/>
            <a:r>
              <a:rPr sz="1150" b="0" i="0">
                <a:solidFill>
                  <a:srgbClr val="212121"/>
                </a:solidFill>
                <a:latin typeface="Calibri"/>
              </a:rPr>
              <a:t>SHAP shows that selecting 'firstClass' adds a consistent positive SHAP value across all route lengths — a fixed class premium on top of the distance-driven base price.</a:t>
            </a:r>
          </a:p>
        </p:txBody>
      </p:sp>
      <p:pic>
        <p:nvPicPr>
          <p:cNvPr id="30" name="Picture 29" descr="out_186_17.png"/>
          <p:cNvPicPr>
            <a:picLocks noChangeAspect="1"/>
          </p:cNvPicPr>
          <p:nvPr/>
        </p:nvPicPr>
        <p:blipFill>
          <a:blip r:embed="rId2"/>
          <a:stretch>
            <a:fillRect/>
          </a:stretch>
        </p:blipFill>
        <p:spPr>
          <a:xfrm>
            <a:off x="6236208" y="1261872"/>
            <a:ext cx="5596128" cy="2395728"/>
          </a:xfrm>
          <a:prstGeom prst="rect">
            <a:avLst/>
          </a:prstGeom>
        </p:spPr>
      </p:pic>
      <p:sp>
        <p:nvSpPr>
          <p:cNvPr id="31" name="TextBox 30"/>
          <p:cNvSpPr txBox="1"/>
          <p:nvPr/>
        </p:nvSpPr>
        <p:spPr>
          <a:xfrm>
            <a:off x="6236208" y="3675887"/>
            <a:ext cx="5596128" cy="256032"/>
          </a:xfrm>
          <a:prstGeom prst="rect">
            <a:avLst/>
          </a:prstGeom>
          <a:noFill/>
        </p:spPr>
        <p:txBody>
          <a:bodyPr wrap="square">
            <a:spAutoFit/>
          </a:bodyPr>
          <a:lstStyle/>
          <a:p>
            <a:pPr algn="ctr"/>
            <a:r>
              <a:rPr sz="950" b="0" i="1">
                <a:solidFill>
                  <a:srgbClr val="546E7A"/>
                </a:solidFill>
                <a:latin typeface="Calibri"/>
              </a:rPr>
              <a:t>Fig 9: Feature correlation heatmap for top predictors — distance, time strongly correlated with price; confirms feature selection choices</a:t>
            </a:r>
          </a:p>
        </p:txBody>
      </p:sp>
      <p:pic>
        <p:nvPicPr>
          <p:cNvPr id="32" name="Picture 31" descr="out_191_18.png"/>
          <p:cNvPicPr>
            <a:picLocks noChangeAspect="1"/>
          </p:cNvPicPr>
          <p:nvPr/>
        </p:nvPicPr>
        <p:blipFill>
          <a:blip r:embed="rId3"/>
          <a:stretch>
            <a:fillRect/>
          </a:stretch>
        </p:blipFill>
        <p:spPr>
          <a:xfrm>
            <a:off x="6236208" y="3840480"/>
            <a:ext cx="5596128" cy="2423160"/>
          </a:xfrm>
          <a:prstGeom prst="rect">
            <a:avLst/>
          </a:prstGeom>
        </p:spPr>
      </p:pic>
      <p:sp>
        <p:nvSpPr>
          <p:cNvPr id="33" name="TextBox 32"/>
          <p:cNvSpPr txBox="1"/>
          <p:nvPr/>
        </p:nvSpPr>
        <p:spPr>
          <a:xfrm>
            <a:off x="6236208" y="6281928"/>
            <a:ext cx="5596128" cy="256032"/>
          </a:xfrm>
          <a:prstGeom prst="rect">
            <a:avLst/>
          </a:prstGeom>
          <a:noFill/>
        </p:spPr>
        <p:txBody>
          <a:bodyPr wrap="square">
            <a:spAutoFit/>
          </a:bodyPr>
          <a:lstStyle/>
          <a:p>
            <a:pPr algn="ctr"/>
            <a:r>
              <a:rPr sz="950" b="0" i="1">
                <a:solidFill>
                  <a:srgbClr val="546E7A"/>
                </a:solidFill>
                <a:latin typeface="Calibri"/>
              </a:rPr>
              <a:t>Fig 10: Random Forest prediction quality plot — predicted vs actual price; tight clustering around diagonal confirms near-perfect regression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05" y="1298448"/>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Model 2 — Gender Classification from Name</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Predict user gender from name string using NLP embeddings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Build a gender classification model that infers user gender from their name — enabling personalised UX without requiring users to fill in demographic forms.</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dirty="0">
                <a:solidFill>
                  <a:srgbClr val="1D4F58"/>
                </a:solidFill>
                <a:latin typeface="Calibri"/>
              </a:rPr>
              <a:t>Sentence Transformer (all-MiniLM-L6-v2) to encode names as 384-dim vectors → PCA dimensionality reduction → binary classifier (Logistic Regression / RF); evaluated on accuracy, precision, recall</a:t>
            </a:r>
          </a:p>
        </p:txBody>
      </p:sp>
      <p:sp>
        <p:nvSpPr>
          <p:cNvPr id="15" name="Rectangle 14"/>
          <p:cNvSpPr/>
          <p:nvPr/>
        </p:nvSpPr>
        <p:spPr>
          <a:xfrm>
            <a:off x="356616" y="205511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Why Sentence Transformers for names?</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Raw names cannot be fed directly to classifiers — computers need numbers. Sentence Transformer (pre-trained on millions of text examples) converts each name to a 384-dimensional embedding that captures phonetic, cultural, and morphological patterns associated with gender.</a:t>
            </a:r>
          </a:p>
        </p:txBody>
      </p:sp>
      <p:sp>
        <p:nvSpPr>
          <p:cNvPr id="22" name="Rounded Rectangle 21"/>
          <p:cNvSpPr/>
          <p:nvPr/>
        </p:nvSpPr>
        <p:spPr>
          <a:xfrm>
            <a:off x="416525" y="3657936"/>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420" y="3672862"/>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45172" y="3616049"/>
            <a:ext cx="5349240" cy="256032"/>
          </a:xfrm>
          <a:prstGeom prst="rect">
            <a:avLst/>
          </a:prstGeom>
          <a:noFill/>
        </p:spPr>
        <p:txBody>
          <a:bodyPr wrap="square">
            <a:spAutoFit/>
          </a:bodyPr>
          <a:lstStyle/>
          <a:p>
            <a:pPr algn="l"/>
            <a:r>
              <a:rPr sz="1300" b="1" i="0" dirty="0">
                <a:solidFill>
                  <a:srgbClr val="1565C0"/>
                </a:solidFill>
                <a:latin typeface="Calibri"/>
              </a:rPr>
              <a:t>PCA reduces 384 dims to 2–3 components</a:t>
            </a:r>
          </a:p>
        </p:txBody>
      </p:sp>
      <p:sp>
        <p:nvSpPr>
          <p:cNvPr id="25" name="TextBox 24"/>
          <p:cNvSpPr txBox="1"/>
          <p:nvPr/>
        </p:nvSpPr>
        <p:spPr>
          <a:xfrm>
            <a:off x="745172" y="3917935"/>
            <a:ext cx="5349240" cy="420624"/>
          </a:xfrm>
          <a:prstGeom prst="rect">
            <a:avLst/>
          </a:prstGeom>
          <a:noFill/>
        </p:spPr>
        <p:txBody>
          <a:bodyPr wrap="square">
            <a:spAutoFit/>
          </a:bodyPr>
          <a:lstStyle/>
          <a:p>
            <a:pPr algn="l"/>
            <a:r>
              <a:rPr sz="1150" b="0" i="0" dirty="0">
                <a:solidFill>
                  <a:srgbClr val="212121"/>
                </a:solidFill>
                <a:latin typeface="Calibri"/>
              </a:rPr>
              <a:t>After encoding, PCA reduces the 384-dimensional embedding space to 2–3 principal components while retaining the gender-discriminating signal. This reduces model complexity and prevents overfitting on the relatively small training set.</a:t>
            </a:r>
          </a:p>
        </p:txBody>
      </p:sp>
      <p:sp>
        <p:nvSpPr>
          <p:cNvPr id="26" name="Rounded Rectangle 25"/>
          <p:cNvSpPr/>
          <p:nvPr/>
        </p:nvSpPr>
        <p:spPr>
          <a:xfrm>
            <a:off x="417198" y="4632377"/>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2491" y="4632780"/>
            <a:ext cx="292608" cy="237744"/>
          </a:xfrm>
          <a:prstGeom prst="rect">
            <a:avLst/>
          </a:prstGeom>
          <a:noFill/>
        </p:spPr>
        <p:txBody>
          <a:bodyPr wrap="square">
            <a:spAutoFit/>
          </a:bodyPr>
          <a:lstStyle/>
          <a:p>
            <a:pPr algn="ctr"/>
            <a:r>
              <a:rPr sz="1100" b="1" i="0" dirty="0">
                <a:solidFill>
                  <a:srgbClr val="FFFFFF"/>
                </a:solidFill>
                <a:latin typeface="Calibri"/>
              </a:rPr>
              <a:t>3</a:t>
            </a:r>
          </a:p>
        </p:txBody>
      </p:sp>
      <p:sp>
        <p:nvSpPr>
          <p:cNvPr id="28" name="TextBox 27"/>
          <p:cNvSpPr txBox="1"/>
          <p:nvPr/>
        </p:nvSpPr>
        <p:spPr>
          <a:xfrm>
            <a:off x="713231" y="4632377"/>
            <a:ext cx="5349240" cy="256032"/>
          </a:xfrm>
          <a:prstGeom prst="rect">
            <a:avLst/>
          </a:prstGeom>
          <a:noFill/>
        </p:spPr>
        <p:txBody>
          <a:bodyPr wrap="square">
            <a:spAutoFit/>
          </a:bodyPr>
          <a:lstStyle/>
          <a:p>
            <a:pPr algn="l"/>
            <a:r>
              <a:rPr sz="1300" b="1" i="0" dirty="0">
                <a:solidFill>
                  <a:srgbClr val="F59E0B"/>
                </a:solidFill>
                <a:latin typeface="Calibri"/>
              </a:rPr>
              <a:t>Confusion matrix: most errors on unisex names</a:t>
            </a:r>
          </a:p>
        </p:txBody>
      </p:sp>
      <p:sp>
        <p:nvSpPr>
          <p:cNvPr id="29" name="TextBox 28"/>
          <p:cNvSpPr txBox="1"/>
          <p:nvPr/>
        </p:nvSpPr>
        <p:spPr>
          <a:xfrm>
            <a:off x="868679" y="4861919"/>
            <a:ext cx="5349240" cy="623248"/>
          </a:xfrm>
          <a:prstGeom prst="rect">
            <a:avLst/>
          </a:prstGeom>
          <a:noFill/>
        </p:spPr>
        <p:txBody>
          <a:bodyPr wrap="square">
            <a:spAutoFit/>
          </a:bodyPr>
          <a:lstStyle/>
          <a:p>
            <a:pPr algn="l"/>
            <a:r>
              <a:rPr sz="1150" b="0" i="0" dirty="0">
                <a:solidFill>
                  <a:srgbClr val="212121"/>
                </a:solidFill>
                <a:latin typeface="Calibri"/>
              </a:rPr>
              <a:t>The confusion matrix reveals that classification errors are concentrated on names that are genuinely gender-ambiguous (e.g., names used by both genders). The model performs well on clearly gendered names.</a:t>
            </a:r>
          </a:p>
        </p:txBody>
      </p:sp>
      <p:sp>
        <p:nvSpPr>
          <p:cNvPr id="30" name="Rounded Rectangle 29"/>
          <p:cNvSpPr/>
          <p:nvPr/>
        </p:nvSpPr>
        <p:spPr>
          <a:xfrm>
            <a:off x="453435" y="5557400"/>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2564" y="5559551"/>
            <a:ext cx="292608" cy="237744"/>
          </a:xfrm>
          <a:prstGeom prst="rect">
            <a:avLst/>
          </a:prstGeom>
          <a:noFill/>
        </p:spPr>
        <p:txBody>
          <a:bodyPr wrap="square">
            <a:spAutoFit/>
          </a:bodyPr>
          <a:lstStyle/>
          <a:p>
            <a:pPr algn="ctr"/>
            <a:r>
              <a:rPr sz="1100" b="1" i="0" dirty="0">
                <a:solidFill>
                  <a:srgbClr val="FFFFFF"/>
                </a:solidFill>
                <a:latin typeface="Calibri"/>
              </a:rPr>
              <a:t>4</a:t>
            </a:r>
          </a:p>
        </p:txBody>
      </p:sp>
      <p:sp>
        <p:nvSpPr>
          <p:cNvPr id="32" name="TextBox 31"/>
          <p:cNvSpPr txBox="1"/>
          <p:nvPr/>
        </p:nvSpPr>
        <p:spPr>
          <a:xfrm>
            <a:off x="761639" y="5526203"/>
            <a:ext cx="5349240" cy="292388"/>
          </a:xfrm>
          <a:prstGeom prst="rect">
            <a:avLst/>
          </a:prstGeom>
          <a:noFill/>
        </p:spPr>
        <p:txBody>
          <a:bodyPr wrap="square">
            <a:spAutoFit/>
          </a:bodyPr>
          <a:lstStyle/>
          <a:p>
            <a:pPr algn="l"/>
            <a:r>
              <a:rPr sz="1300" b="1" i="0" dirty="0">
                <a:solidFill>
                  <a:srgbClr val="2E7D32"/>
                </a:solidFill>
                <a:latin typeface="Calibri"/>
              </a:rPr>
              <a:t>Business impact: personalization without friction</a:t>
            </a:r>
          </a:p>
        </p:txBody>
      </p:sp>
      <p:sp>
        <p:nvSpPr>
          <p:cNvPr id="33" name="TextBox 32"/>
          <p:cNvSpPr txBox="1"/>
          <p:nvPr/>
        </p:nvSpPr>
        <p:spPr>
          <a:xfrm>
            <a:off x="763524" y="5805902"/>
            <a:ext cx="5349240" cy="623248"/>
          </a:xfrm>
          <a:prstGeom prst="rect">
            <a:avLst/>
          </a:prstGeom>
          <a:noFill/>
        </p:spPr>
        <p:txBody>
          <a:bodyPr wrap="square">
            <a:spAutoFit/>
          </a:bodyPr>
          <a:lstStyle/>
          <a:p>
            <a:pPr algn="l"/>
            <a:r>
              <a:rPr sz="1150" b="0" i="0" dirty="0">
                <a:solidFill>
                  <a:srgbClr val="212121"/>
                </a:solidFill>
                <a:latin typeface="Calibri"/>
              </a:rPr>
              <a:t>Predicting gender from name enables personalized content, hotel recommendations, and marketing copy without adding a required gender field in the booking form — reducing form friction and improving conversion rate.</a:t>
            </a:r>
          </a:p>
        </p:txBody>
      </p:sp>
      <p:pic>
        <p:nvPicPr>
          <p:cNvPr id="34" name="Picture 33" descr="out_205_20.png"/>
          <p:cNvPicPr>
            <a:picLocks noChangeAspect="1"/>
          </p:cNvPicPr>
          <p:nvPr/>
        </p:nvPicPr>
        <p:blipFill>
          <a:blip r:embed="rId2"/>
          <a:stretch>
            <a:fillRect/>
          </a:stretch>
        </p:blipFill>
        <p:spPr>
          <a:xfrm>
            <a:off x="6236208" y="1261872"/>
            <a:ext cx="5596128" cy="2395728"/>
          </a:xfrm>
          <a:prstGeom prst="rect">
            <a:avLst/>
          </a:prstGeom>
        </p:spPr>
      </p:pic>
      <p:sp>
        <p:nvSpPr>
          <p:cNvPr id="35" name="TextBox 34"/>
          <p:cNvSpPr txBox="1"/>
          <p:nvPr/>
        </p:nvSpPr>
        <p:spPr>
          <a:xfrm>
            <a:off x="6391656" y="3607308"/>
            <a:ext cx="5596128" cy="256032"/>
          </a:xfrm>
          <a:prstGeom prst="rect">
            <a:avLst/>
          </a:prstGeom>
          <a:noFill/>
        </p:spPr>
        <p:txBody>
          <a:bodyPr wrap="square">
            <a:spAutoFit/>
          </a:bodyPr>
          <a:lstStyle/>
          <a:p>
            <a:pPr algn="ctr"/>
            <a:r>
              <a:rPr sz="950" b="0" i="1" dirty="0">
                <a:solidFill>
                  <a:srgbClr val="546E7A"/>
                </a:solidFill>
                <a:latin typeface="Calibri"/>
              </a:rPr>
              <a:t>Fig 11: Gender classification model accuracy and precision/recall per class — model performance across male/female categories</a:t>
            </a:r>
          </a:p>
        </p:txBody>
      </p:sp>
      <p:pic>
        <p:nvPicPr>
          <p:cNvPr id="36" name="Picture 35" descr="out_207_21.png"/>
          <p:cNvPicPr>
            <a:picLocks noChangeAspect="1"/>
          </p:cNvPicPr>
          <p:nvPr/>
        </p:nvPicPr>
        <p:blipFill>
          <a:blip r:embed="rId3"/>
          <a:stretch>
            <a:fillRect/>
          </a:stretch>
        </p:blipFill>
        <p:spPr>
          <a:xfrm>
            <a:off x="6236208" y="3840480"/>
            <a:ext cx="5596128" cy="2423160"/>
          </a:xfrm>
          <a:prstGeom prst="rect">
            <a:avLst/>
          </a:prstGeom>
        </p:spPr>
      </p:pic>
      <p:sp>
        <p:nvSpPr>
          <p:cNvPr id="37" name="TextBox 36"/>
          <p:cNvSpPr txBox="1"/>
          <p:nvPr/>
        </p:nvSpPr>
        <p:spPr>
          <a:xfrm>
            <a:off x="6236208" y="6281928"/>
            <a:ext cx="5596128" cy="256032"/>
          </a:xfrm>
          <a:prstGeom prst="rect">
            <a:avLst/>
          </a:prstGeom>
          <a:noFill/>
        </p:spPr>
        <p:txBody>
          <a:bodyPr wrap="square">
            <a:spAutoFit/>
          </a:bodyPr>
          <a:lstStyle/>
          <a:p>
            <a:pPr algn="ctr"/>
            <a:r>
              <a:rPr sz="950" b="0" i="1">
                <a:solidFill>
                  <a:srgbClr val="546E7A"/>
                </a:solidFill>
                <a:latin typeface="Calibri"/>
              </a:rPr>
              <a:t>Fig 12: Confusion matrix — true/false positive counts for male/female; most errors on ambiguous unisex names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Model 3 — Hotel Recommendation Engine</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Recommend the best hotel for each user trip using content-based filtering</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Build a hotel recommendation system that, given a user's destination, trip duration, and budget, ranks hotels by similarity to their trip profile — without requiring historical booking data (cold-start capable).</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dirty="0">
                <a:solidFill>
                  <a:srgbClr val="1D4F58"/>
                </a:solidFill>
                <a:latin typeface="Calibri"/>
              </a:rPr>
              <a:t>Content-Based Filtering: TF-IDF </a:t>
            </a:r>
            <a:r>
              <a:rPr sz="1150" b="1" i="0" dirty="0" err="1">
                <a:solidFill>
                  <a:srgbClr val="1D4F58"/>
                </a:solidFill>
                <a:latin typeface="Calibri"/>
              </a:rPr>
              <a:t>vectorisation</a:t>
            </a:r>
            <a:r>
              <a:rPr sz="1150" b="1" i="0" dirty="0">
                <a:solidFill>
                  <a:srgbClr val="1D4F58"/>
                </a:solidFill>
                <a:latin typeface="Calibri"/>
              </a:rPr>
              <a:t> of hotel attributes (location, price range, type); cosine similarity matrix between user trip profile and hotel vectors; top-K recommendations returned</a:t>
            </a:r>
          </a:p>
        </p:txBody>
      </p:sp>
      <p:sp>
        <p:nvSpPr>
          <p:cNvPr id="15" name="Rectangle 14"/>
          <p:cNvSpPr/>
          <p:nvPr/>
        </p:nvSpPr>
        <p:spPr>
          <a:xfrm>
            <a:off x="274320" y="202909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649224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6080760" cy="256032"/>
          </a:xfrm>
          <a:prstGeom prst="rect">
            <a:avLst/>
          </a:prstGeom>
          <a:noFill/>
        </p:spPr>
        <p:txBody>
          <a:bodyPr wrap="square">
            <a:spAutoFit/>
          </a:bodyPr>
          <a:lstStyle/>
          <a:p>
            <a:pPr algn="l"/>
            <a:r>
              <a:rPr sz="1300" b="1" i="0">
                <a:solidFill>
                  <a:srgbClr val="1D4F58"/>
                </a:solidFill>
                <a:latin typeface="Calibri"/>
              </a:rPr>
              <a:t>Content-Based Filtering — no collaborative data needed</a:t>
            </a:r>
          </a:p>
        </p:txBody>
      </p:sp>
      <p:sp>
        <p:nvSpPr>
          <p:cNvPr id="21" name="TextBox 20"/>
          <p:cNvSpPr txBox="1"/>
          <p:nvPr/>
        </p:nvSpPr>
        <p:spPr>
          <a:xfrm>
            <a:off x="731520" y="2743200"/>
            <a:ext cx="6080760" cy="420624"/>
          </a:xfrm>
          <a:prstGeom prst="rect">
            <a:avLst/>
          </a:prstGeom>
          <a:noFill/>
        </p:spPr>
        <p:txBody>
          <a:bodyPr wrap="square">
            <a:spAutoFit/>
          </a:bodyPr>
          <a:lstStyle/>
          <a:p>
            <a:pPr algn="l"/>
            <a:r>
              <a:rPr sz="1150" b="0" i="0">
                <a:solidFill>
                  <a:srgbClr val="212121"/>
                </a:solidFill>
                <a:latin typeface="Calibri"/>
              </a:rPr>
              <a:t>Unlike collaborative filtering (which needs prior booking history), content-based filtering computes similarity between user trip requirements and hotel feature vectors. This solves the cold-start problem — works for new users from day 1.</a:t>
            </a:r>
          </a:p>
        </p:txBody>
      </p:sp>
      <p:sp>
        <p:nvSpPr>
          <p:cNvPr id="22" name="Rounded Rectangle 21"/>
          <p:cNvSpPr/>
          <p:nvPr/>
        </p:nvSpPr>
        <p:spPr>
          <a:xfrm>
            <a:off x="347472" y="322783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25526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227832"/>
            <a:ext cx="6080760" cy="256032"/>
          </a:xfrm>
          <a:prstGeom prst="rect">
            <a:avLst/>
          </a:prstGeom>
          <a:noFill/>
        </p:spPr>
        <p:txBody>
          <a:bodyPr wrap="square">
            <a:spAutoFit/>
          </a:bodyPr>
          <a:lstStyle/>
          <a:p>
            <a:pPr algn="l"/>
            <a:r>
              <a:rPr sz="1300" b="1" i="0">
                <a:solidFill>
                  <a:srgbClr val="1565C0"/>
                </a:solidFill>
                <a:latin typeface="Calibri"/>
              </a:rPr>
              <a:t>Feature vector: location + price range + hotel type</a:t>
            </a:r>
          </a:p>
        </p:txBody>
      </p:sp>
      <p:sp>
        <p:nvSpPr>
          <p:cNvPr id="25" name="TextBox 24"/>
          <p:cNvSpPr txBox="1"/>
          <p:nvPr/>
        </p:nvSpPr>
        <p:spPr>
          <a:xfrm>
            <a:off x="731520" y="3502152"/>
            <a:ext cx="6080760" cy="420624"/>
          </a:xfrm>
          <a:prstGeom prst="rect">
            <a:avLst/>
          </a:prstGeom>
          <a:noFill/>
        </p:spPr>
        <p:txBody>
          <a:bodyPr wrap="square">
            <a:spAutoFit/>
          </a:bodyPr>
          <a:lstStyle/>
          <a:p>
            <a:pPr algn="l"/>
            <a:r>
              <a:rPr sz="1150" b="0" i="0">
                <a:solidFill>
                  <a:srgbClr val="212121"/>
                </a:solidFill>
                <a:latin typeface="Calibri"/>
              </a:rPr>
              <a:t>Each hotel is represented as a TF-IDF vector of: destination city, price bracket (budget/mid/luxury), hotel category, and amenity tags. The user's trip profile is encoded the same way and compared using cosine similarity.</a:t>
            </a:r>
          </a:p>
        </p:txBody>
      </p:sp>
      <p:sp>
        <p:nvSpPr>
          <p:cNvPr id="26" name="Rounded Rectangle 25"/>
          <p:cNvSpPr/>
          <p:nvPr/>
        </p:nvSpPr>
        <p:spPr>
          <a:xfrm>
            <a:off x="347472" y="3986784"/>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014216"/>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3986784"/>
            <a:ext cx="6080760" cy="256032"/>
          </a:xfrm>
          <a:prstGeom prst="rect">
            <a:avLst/>
          </a:prstGeom>
          <a:noFill/>
        </p:spPr>
        <p:txBody>
          <a:bodyPr wrap="square">
            <a:spAutoFit/>
          </a:bodyPr>
          <a:lstStyle/>
          <a:p>
            <a:pPr algn="l"/>
            <a:r>
              <a:rPr sz="1300" b="1" i="0">
                <a:solidFill>
                  <a:srgbClr val="F59E0B"/>
                </a:solidFill>
                <a:latin typeface="Calibri"/>
              </a:rPr>
              <a:t>Cosine similarity ranks hotels by trip relevance</a:t>
            </a:r>
          </a:p>
        </p:txBody>
      </p:sp>
      <p:sp>
        <p:nvSpPr>
          <p:cNvPr id="29" name="TextBox 28"/>
          <p:cNvSpPr txBox="1"/>
          <p:nvPr/>
        </p:nvSpPr>
        <p:spPr>
          <a:xfrm>
            <a:off x="731520" y="4261104"/>
            <a:ext cx="6080760" cy="420624"/>
          </a:xfrm>
          <a:prstGeom prst="rect">
            <a:avLst/>
          </a:prstGeom>
          <a:noFill/>
        </p:spPr>
        <p:txBody>
          <a:bodyPr wrap="square">
            <a:spAutoFit/>
          </a:bodyPr>
          <a:lstStyle/>
          <a:p>
            <a:pPr algn="l"/>
            <a:r>
              <a:rPr sz="1150" b="0" i="0">
                <a:solidFill>
                  <a:srgbClr val="212121"/>
                </a:solidFill>
                <a:latin typeface="Calibri"/>
              </a:rPr>
              <a:t>Hotels are ranked by cosine similarity score against the user's trip profile. Top-K hotels (typically K=5) are returned with their similarity scores — providing both ranked recommendations and a confidence measure.</a:t>
            </a:r>
          </a:p>
        </p:txBody>
      </p:sp>
      <p:sp>
        <p:nvSpPr>
          <p:cNvPr id="30" name="Rounded Rectangle 29"/>
          <p:cNvSpPr/>
          <p:nvPr/>
        </p:nvSpPr>
        <p:spPr>
          <a:xfrm>
            <a:off x="347472" y="4745736"/>
            <a:ext cx="292608" cy="292608"/>
          </a:xfrm>
          <a:prstGeom prst="roundRect">
            <a:avLst>
              <a:gd name="adj" fmla="val 6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4773168"/>
            <a:ext cx="292608" cy="237744"/>
          </a:xfrm>
          <a:prstGeom prst="rect">
            <a:avLst/>
          </a:prstGeom>
          <a:noFill/>
        </p:spPr>
        <p:txBody>
          <a:bodyPr wrap="square">
            <a:spAutoFit/>
          </a:bodyPr>
          <a:lstStyle/>
          <a:p>
            <a:pPr algn="ctr"/>
            <a:r>
              <a:rPr sz="1100" b="1" i="0">
                <a:solidFill>
                  <a:srgbClr val="FFFFFF"/>
                </a:solidFill>
                <a:latin typeface="Calibri"/>
              </a:rPr>
              <a:t>4</a:t>
            </a:r>
          </a:p>
        </p:txBody>
      </p:sp>
      <p:sp>
        <p:nvSpPr>
          <p:cNvPr id="32" name="TextBox 31"/>
          <p:cNvSpPr txBox="1"/>
          <p:nvPr/>
        </p:nvSpPr>
        <p:spPr>
          <a:xfrm>
            <a:off x="731520" y="4745736"/>
            <a:ext cx="6080760" cy="256032"/>
          </a:xfrm>
          <a:prstGeom prst="rect">
            <a:avLst/>
          </a:prstGeom>
          <a:noFill/>
        </p:spPr>
        <p:txBody>
          <a:bodyPr wrap="square">
            <a:spAutoFit/>
          </a:bodyPr>
          <a:lstStyle/>
          <a:p>
            <a:pPr algn="l"/>
            <a:r>
              <a:rPr sz="1300" b="1" i="0">
                <a:solidFill>
                  <a:srgbClr val="2E7D32"/>
                </a:solidFill>
                <a:latin typeface="Calibri"/>
              </a:rPr>
              <a:t>Business impact: increased hotel booking conversion</a:t>
            </a:r>
          </a:p>
        </p:txBody>
      </p:sp>
      <p:sp>
        <p:nvSpPr>
          <p:cNvPr id="33" name="TextBox 32"/>
          <p:cNvSpPr txBox="1"/>
          <p:nvPr/>
        </p:nvSpPr>
        <p:spPr>
          <a:xfrm>
            <a:off x="731520" y="5020056"/>
            <a:ext cx="6080760" cy="420624"/>
          </a:xfrm>
          <a:prstGeom prst="rect">
            <a:avLst/>
          </a:prstGeom>
          <a:noFill/>
        </p:spPr>
        <p:txBody>
          <a:bodyPr wrap="square">
            <a:spAutoFit/>
          </a:bodyPr>
          <a:lstStyle/>
          <a:p>
            <a:pPr algn="l"/>
            <a:r>
              <a:rPr sz="1150" b="0" i="0">
                <a:solidFill>
                  <a:srgbClr val="212121"/>
                </a:solidFill>
                <a:latin typeface="Calibri"/>
              </a:rPr>
              <a:t>A personalised recommendation engine replaces generic 'featured hotels' lists — reducing decision fatigue, increasing click-through on hotel options, and improving hotel booking attach rate to flight bookings.</a:t>
            </a:r>
          </a:p>
        </p:txBody>
      </p:sp>
      <p:sp>
        <p:nvSpPr>
          <p:cNvPr id="34" name="Rounded Rectangle 33"/>
          <p:cNvSpPr/>
          <p:nvPr/>
        </p:nvSpPr>
        <p:spPr>
          <a:xfrm>
            <a:off x="7315200" y="2388332"/>
            <a:ext cx="4919472" cy="2267712"/>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0" y="2441448"/>
            <a:ext cx="4919472" cy="2926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543800" y="2450726"/>
            <a:ext cx="4736592" cy="237744"/>
          </a:xfrm>
          <a:prstGeom prst="rect">
            <a:avLst/>
          </a:prstGeom>
          <a:noFill/>
        </p:spPr>
        <p:txBody>
          <a:bodyPr wrap="square">
            <a:spAutoFit/>
          </a:bodyPr>
          <a:lstStyle/>
          <a:p>
            <a:pPr algn="l"/>
            <a:r>
              <a:rPr sz="1100" b="1" i="0">
                <a:solidFill>
                  <a:srgbClr val="FFFFFF"/>
                </a:solidFill>
                <a:latin typeface="Calibri"/>
              </a:rPr>
              <a:t>System Architecture</a:t>
            </a:r>
          </a:p>
        </p:txBody>
      </p:sp>
      <p:sp>
        <p:nvSpPr>
          <p:cNvPr id="37" name="TextBox 36"/>
          <p:cNvSpPr txBox="1"/>
          <p:nvPr/>
        </p:nvSpPr>
        <p:spPr>
          <a:xfrm>
            <a:off x="7543800" y="2913910"/>
            <a:ext cx="4736592" cy="329184"/>
          </a:xfrm>
          <a:prstGeom prst="rect">
            <a:avLst/>
          </a:prstGeom>
          <a:noFill/>
        </p:spPr>
        <p:txBody>
          <a:bodyPr wrap="square">
            <a:spAutoFit/>
          </a:bodyPr>
          <a:lstStyle/>
          <a:p>
            <a:pPr algn="l"/>
            <a:r>
              <a:rPr sz="1150" b="0" i="0" dirty="0">
                <a:solidFill>
                  <a:srgbClr val="212121"/>
                </a:solidFill>
                <a:latin typeface="Calibri"/>
              </a:rPr>
              <a:t>Input: destination + </a:t>
            </a:r>
            <a:r>
              <a:rPr sz="1150" b="0" i="0" dirty="0" err="1">
                <a:solidFill>
                  <a:srgbClr val="212121"/>
                </a:solidFill>
                <a:latin typeface="Calibri"/>
              </a:rPr>
              <a:t>trip_duration</a:t>
            </a:r>
            <a:r>
              <a:rPr sz="1150" b="0" i="0" dirty="0">
                <a:solidFill>
                  <a:srgbClr val="212121"/>
                </a:solidFill>
                <a:latin typeface="Calibri"/>
              </a:rPr>
              <a:t> + budget</a:t>
            </a:r>
          </a:p>
        </p:txBody>
      </p:sp>
      <p:sp>
        <p:nvSpPr>
          <p:cNvPr id="38" name="TextBox 37"/>
          <p:cNvSpPr txBox="1"/>
          <p:nvPr/>
        </p:nvSpPr>
        <p:spPr>
          <a:xfrm>
            <a:off x="7543800" y="3251162"/>
            <a:ext cx="4736592" cy="329184"/>
          </a:xfrm>
          <a:prstGeom prst="rect">
            <a:avLst/>
          </a:prstGeom>
          <a:noFill/>
        </p:spPr>
        <p:txBody>
          <a:bodyPr wrap="square">
            <a:spAutoFit/>
          </a:bodyPr>
          <a:lstStyle/>
          <a:p>
            <a:pPr algn="l"/>
            <a:r>
              <a:rPr sz="1150" b="0" i="0" dirty="0">
                <a:solidFill>
                  <a:srgbClr val="212121"/>
                </a:solidFill>
                <a:latin typeface="Calibri"/>
              </a:rPr>
              <a:t>Step 1: Encode user profile as TF-IDF vector</a:t>
            </a:r>
          </a:p>
        </p:txBody>
      </p:sp>
      <p:sp>
        <p:nvSpPr>
          <p:cNvPr id="39" name="TextBox 38"/>
          <p:cNvSpPr txBox="1"/>
          <p:nvPr/>
        </p:nvSpPr>
        <p:spPr>
          <a:xfrm>
            <a:off x="7543800" y="3517213"/>
            <a:ext cx="4736592" cy="329184"/>
          </a:xfrm>
          <a:prstGeom prst="rect">
            <a:avLst/>
          </a:prstGeom>
          <a:noFill/>
        </p:spPr>
        <p:txBody>
          <a:bodyPr wrap="square">
            <a:spAutoFit/>
          </a:bodyPr>
          <a:lstStyle/>
          <a:p>
            <a:pPr algn="l"/>
            <a:r>
              <a:rPr sz="1150" b="0" i="0" dirty="0">
                <a:solidFill>
                  <a:srgbClr val="212121"/>
                </a:solidFill>
                <a:latin typeface="Calibri"/>
              </a:rPr>
              <a:t>Step 2: Compute </a:t>
            </a:r>
            <a:r>
              <a:rPr sz="1150" b="0" i="0" dirty="0" err="1">
                <a:solidFill>
                  <a:srgbClr val="212121"/>
                </a:solidFill>
                <a:latin typeface="Calibri"/>
              </a:rPr>
              <a:t>cosine_similarity</a:t>
            </a:r>
            <a:r>
              <a:rPr sz="1150" b="0" i="0" dirty="0">
                <a:solidFill>
                  <a:srgbClr val="212121"/>
                </a:solidFill>
                <a:latin typeface="Calibri"/>
              </a:rPr>
              <a:t>(user, all hotels)</a:t>
            </a:r>
          </a:p>
        </p:txBody>
      </p:sp>
      <p:sp>
        <p:nvSpPr>
          <p:cNvPr id="40" name="TextBox 39"/>
          <p:cNvSpPr txBox="1"/>
          <p:nvPr/>
        </p:nvSpPr>
        <p:spPr>
          <a:xfrm>
            <a:off x="7520940" y="3755898"/>
            <a:ext cx="4736592" cy="329184"/>
          </a:xfrm>
          <a:prstGeom prst="rect">
            <a:avLst/>
          </a:prstGeom>
          <a:noFill/>
        </p:spPr>
        <p:txBody>
          <a:bodyPr wrap="square">
            <a:spAutoFit/>
          </a:bodyPr>
          <a:lstStyle/>
          <a:p>
            <a:pPr algn="l"/>
            <a:r>
              <a:rPr sz="1150" b="0" i="0" dirty="0">
                <a:solidFill>
                  <a:srgbClr val="212121"/>
                </a:solidFill>
                <a:latin typeface="Calibri"/>
              </a:rPr>
              <a:t>Step 3: Sort hotels by similarity score descending</a:t>
            </a:r>
          </a:p>
        </p:txBody>
      </p:sp>
      <p:sp>
        <p:nvSpPr>
          <p:cNvPr id="41" name="TextBox 40"/>
          <p:cNvSpPr txBox="1"/>
          <p:nvPr/>
        </p:nvSpPr>
        <p:spPr>
          <a:xfrm>
            <a:off x="7509510" y="4011527"/>
            <a:ext cx="4736592" cy="329184"/>
          </a:xfrm>
          <a:prstGeom prst="rect">
            <a:avLst/>
          </a:prstGeom>
          <a:noFill/>
        </p:spPr>
        <p:txBody>
          <a:bodyPr wrap="square">
            <a:spAutoFit/>
          </a:bodyPr>
          <a:lstStyle/>
          <a:p>
            <a:pPr algn="l"/>
            <a:r>
              <a:rPr sz="1150" b="0" i="0" dirty="0">
                <a:solidFill>
                  <a:srgbClr val="212121"/>
                </a:solidFill>
                <a:latin typeface="Calibri"/>
              </a:rPr>
              <a:t>Step 4: Return Top-5 with similarity scores</a:t>
            </a:r>
          </a:p>
        </p:txBody>
      </p:sp>
      <p:sp>
        <p:nvSpPr>
          <p:cNvPr id="42" name="TextBox 41"/>
          <p:cNvSpPr txBox="1"/>
          <p:nvPr/>
        </p:nvSpPr>
        <p:spPr>
          <a:xfrm>
            <a:off x="7509510" y="4319935"/>
            <a:ext cx="4736592" cy="329184"/>
          </a:xfrm>
          <a:prstGeom prst="rect">
            <a:avLst/>
          </a:prstGeom>
          <a:noFill/>
        </p:spPr>
        <p:txBody>
          <a:bodyPr wrap="square">
            <a:spAutoFit/>
          </a:bodyPr>
          <a:lstStyle/>
          <a:p>
            <a:pPr algn="l"/>
            <a:r>
              <a:rPr sz="1150" b="0" i="0" dirty="0">
                <a:solidFill>
                  <a:srgbClr val="212121"/>
                </a:solidFill>
                <a:latin typeface="Calibri"/>
              </a:rPr>
              <a:t>Output: Ranked hotel list with relevance scores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MLOps — From Notebook to Production System</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Objective: Deploy all 3 models as a reproducible, monitored production pipeline</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Apply MLOps principles to transform the notebook-based ML system into a production-grade pipeline — with experiment tracking, containerisation, orchestration, and a live user interface.</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MLflow for experiment tracking; Docker for containerisation; Streamlit for web deployment; Apache Airflow for pipeline orchestration (conceptual architecture)</a:t>
            </a:r>
          </a:p>
        </p:txBody>
      </p:sp>
      <p:sp>
        <p:nvSpPr>
          <p:cNvPr id="15" name="Rectangle 14"/>
          <p:cNvSpPr/>
          <p:nvPr/>
        </p:nvSpPr>
        <p:spPr>
          <a:xfrm>
            <a:off x="347472" y="1975104"/>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0040" y="2331720"/>
            <a:ext cx="5760720" cy="17556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2331720"/>
            <a:ext cx="5760720" cy="73152"/>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9768" y="2478024"/>
            <a:ext cx="5486400" cy="256032"/>
          </a:xfrm>
          <a:prstGeom prst="rect">
            <a:avLst/>
          </a:prstGeom>
          <a:noFill/>
        </p:spPr>
        <p:txBody>
          <a:bodyPr wrap="square">
            <a:spAutoFit/>
          </a:bodyPr>
          <a:lstStyle/>
          <a:p>
            <a:pPr algn="l"/>
            <a:r>
              <a:rPr sz="1300" b="1" i="0">
                <a:solidFill>
                  <a:srgbClr val="1D4F58"/>
                </a:solidFill>
                <a:latin typeface="Calibri"/>
              </a:rPr>
              <a:t>MLflow Experiment Tracking</a:t>
            </a:r>
          </a:p>
        </p:txBody>
      </p:sp>
      <p:sp>
        <p:nvSpPr>
          <p:cNvPr id="19" name="TextBox 18"/>
          <p:cNvSpPr txBox="1"/>
          <p:nvPr/>
        </p:nvSpPr>
        <p:spPr>
          <a:xfrm>
            <a:off x="429768" y="2788920"/>
            <a:ext cx="5486400" cy="1207008"/>
          </a:xfrm>
          <a:prstGeom prst="rect">
            <a:avLst/>
          </a:prstGeom>
          <a:noFill/>
        </p:spPr>
        <p:txBody>
          <a:bodyPr wrap="square">
            <a:spAutoFit/>
          </a:bodyPr>
          <a:lstStyle/>
          <a:p>
            <a:pPr algn="l"/>
            <a:r>
              <a:rPr sz="1100" b="0" i="0">
                <a:solidFill>
                  <a:srgbClr val="212121"/>
                </a:solidFill>
                <a:latin typeface="Calibri"/>
              </a:rPr>
              <a:t>WHAT: Centralised logging of every model training run.
WHY: Without tracking, different model versions cannot be compared reproducibly — teams lose track of which run achieved the best metrics.
RESULT: Every experiment logged with hyperparameters, metrics (R², MAE), artifacts (.pkl files), and model registry entry.</a:t>
            </a:r>
          </a:p>
        </p:txBody>
      </p:sp>
      <p:sp>
        <p:nvSpPr>
          <p:cNvPr id="20" name="Rounded Rectangle 19"/>
          <p:cNvSpPr/>
          <p:nvPr/>
        </p:nvSpPr>
        <p:spPr>
          <a:xfrm>
            <a:off x="6263640" y="2331720"/>
            <a:ext cx="5760720" cy="17556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331720"/>
            <a:ext cx="5760720" cy="731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3368" y="2478024"/>
            <a:ext cx="5486400" cy="256032"/>
          </a:xfrm>
          <a:prstGeom prst="rect">
            <a:avLst/>
          </a:prstGeom>
          <a:noFill/>
        </p:spPr>
        <p:txBody>
          <a:bodyPr wrap="square">
            <a:spAutoFit/>
          </a:bodyPr>
          <a:lstStyle/>
          <a:p>
            <a:pPr algn="l"/>
            <a:r>
              <a:rPr sz="1300" b="1" i="0">
                <a:solidFill>
                  <a:srgbClr val="1565C0"/>
                </a:solidFill>
                <a:latin typeface="Calibri"/>
              </a:rPr>
              <a:t>Docker Containerisation</a:t>
            </a:r>
          </a:p>
        </p:txBody>
      </p:sp>
      <p:sp>
        <p:nvSpPr>
          <p:cNvPr id="23" name="TextBox 22"/>
          <p:cNvSpPr txBox="1"/>
          <p:nvPr/>
        </p:nvSpPr>
        <p:spPr>
          <a:xfrm>
            <a:off x="6373368" y="2788920"/>
            <a:ext cx="5486400" cy="1207008"/>
          </a:xfrm>
          <a:prstGeom prst="rect">
            <a:avLst/>
          </a:prstGeom>
          <a:noFill/>
        </p:spPr>
        <p:txBody>
          <a:bodyPr wrap="square">
            <a:spAutoFit/>
          </a:bodyPr>
          <a:lstStyle/>
          <a:p>
            <a:pPr algn="l"/>
            <a:r>
              <a:rPr sz="1100" b="0" i="0">
                <a:solidFill>
                  <a:srgbClr val="212121"/>
                </a:solidFill>
                <a:latin typeface="Calibri"/>
              </a:rPr>
              <a:t>WHAT: All 3 models packaged in Docker containers with all dependencies.
WHY: 'Works on my machine' is not acceptable for production — Docker ensures identical behaviour across dev, staging, and production environments.
RESULT: Single docker-compose up command starts the entire ML serving stack.</a:t>
            </a:r>
          </a:p>
        </p:txBody>
      </p:sp>
      <p:sp>
        <p:nvSpPr>
          <p:cNvPr id="24" name="Rounded Rectangle 23"/>
          <p:cNvSpPr/>
          <p:nvPr/>
        </p:nvSpPr>
        <p:spPr>
          <a:xfrm>
            <a:off x="320040" y="4251960"/>
            <a:ext cx="5760720" cy="17556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0040" y="4251960"/>
            <a:ext cx="57607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9768" y="4398264"/>
            <a:ext cx="5486400" cy="256032"/>
          </a:xfrm>
          <a:prstGeom prst="rect">
            <a:avLst/>
          </a:prstGeom>
          <a:noFill/>
        </p:spPr>
        <p:txBody>
          <a:bodyPr wrap="square">
            <a:spAutoFit/>
          </a:bodyPr>
          <a:lstStyle/>
          <a:p>
            <a:pPr algn="l"/>
            <a:r>
              <a:rPr sz="1300" b="1" i="0">
                <a:solidFill>
                  <a:srgbClr val="F59E0B"/>
                </a:solidFill>
                <a:latin typeface="Calibri"/>
              </a:rPr>
              <a:t>Streamlit Web Interface</a:t>
            </a:r>
          </a:p>
        </p:txBody>
      </p:sp>
      <p:sp>
        <p:nvSpPr>
          <p:cNvPr id="27" name="TextBox 26"/>
          <p:cNvSpPr txBox="1"/>
          <p:nvPr/>
        </p:nvSpPr>
        <p:spPr>
          <a:xfrm>
            <a:off x="429768" y="4709160"/>
            <a:ext cx="5486400" cy="1207008"/>
          </a:xfrm>
          <a:prstGeom prst="rect">
            <a:avLst/>
          </a:prstGeom>
          <a:noFill/>
        </p:spPr>
        <p:txBody>
          <a:bodyPr wrap="square">
            <a:spAutoFit/>
          </a:bodyPr>
          <a:lstStyle/>
          <a:p>
            <a:pPr algn="l"/>
            <a:r>
              <a:rPr sz="1100" b="0" i="0">
                <a:solidFill>
                  <a:srgbClr val="212121"/>
                </a:solidFill>
                <a:latin typeface="Calibri"/>
              </a:rPr>
              <a:t>WHAT: Interactive web application exposing all 3 models via browser UI.
WHY: Business users need to interact with ML predictions without writing code.
RESULT: Users input route details → price prediction displayed; name → gender prediction; trip info → hotel recommendations — all in one interface.</a:t>
            </a:r>
          </a:p>
        </p:txBody>
      </p:sp>
      <p:sp>
        <p:nvSpPr>
          <p:cNvPr id="28" name="Rounded Rectangle 27"/>
          <p:cNvSpPr/>
          <p:nvPr/>
        </p:nvSpPr>
        <p:spPr>
          <a:xfrm>
            <a:off x="6263640" y="4251960"/>
            <a:ext cx="5760720" cy="1755648"/>
          </a:xfrm>
          <a:prstGeom prst="roundRect">
            <a:avLst>
              <a:gd name="adj" fmla="val 6000"/>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4251960"/>
            <a:ext cx="5760720" cy="731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73368" y="4398264"/>
            <a:ext cx="5486400" cy="256032"/>
          </a:xfrm>
          <a:prstGeom prst="rect">
            <a:avLst/>
          </a:prstGeom>
          <a:noFill/>
        </p:spPr>
        <p:txBody>
          <a:bodyPr wrap="square">
            <a:spAutoFit/>
          </a:bodyPr>
          <a:lstStyle/>
          <a:p>
            <a:pPr algn="l"/>
            <a:r>
              <a:rPr sz="1300" b="1" i="0">
                <a:solidFill>
                  <a:srgbClr val="2E7D32"/>
                </a:solidFill>
                <a:latin typeface="Calibri"/>
              </a:rPr>
              <a:t>Apache Airflow Pipeline</a:t>
            </a:r>
          </a:p>
        </p:txBody>
      </p:sp>
      <p:sp>
        <p:nvSpPr>
          <p:cNvPr id="31" name="TextBox 30"/>
          <p:cNvSpPr txBox="1"/>
          <p:nvPr/>
        </p:nvSpPr>
        <p:spPr>
          <a:xfrm>
            <a:off x="6373368" y="4709160"/>
            <a:ext cx="5486400" cy="1207008"/>
          </a:xfrm>
          <a:prstGeom prst="rect">
            <a:avLst/>
          </a:prstGeom>
          <a:noFill/>
        </p:spPr>
        <p:txBody>
          <a:bodyPr wrap="square">
            <a:spAutoFit/>
          </a:bodyPr>
          <a:lstStyle/>
          <a:p>
            <a:pPr algn="l"/>
            <a:r>
              <a:rPr sz="1100" b="0" i="0">
                <a:solidFill>
                  <a:srgbClr val="212121"/>
                </a:solidFill>
                <a:latin typeface="Calibri"/>
              </a:rPr>
              <a:t>WHAT: DAG (Directed Acyclic Graph) orchestrating data ingestion → preprocessing → training → evaluation → deployment.
WHY: Manual notebook execution is not schedulable, monitorable, or retryable on failure.
RESULT: Weekly automated retraining pipeline with alerting on model performance degradation.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Model Explainability — SHAP Values &amp; Feature Importance</a:t>
            </a:r>
          </a:p>
        </p:txBody>
      </p:sp>
      <p:sp>
        <p:nvSpPr>
          <p:cNvPr id="6" name="TextBox 5"/>
          <p:cNvSpPr txBox="1"/>
          <p:nvPr/>
        </p:nvSpPr>
        <p:spPr>
          <a:xfrm>
            <a:off x="365760" y="749808"/>
            <a:ext cx="11155680" cy="347472"/>
          </a:xfrm>
          <a:prstGeom prst="rect">
            <a:avLst/>
          </a:prstGeom>
          <a:noFill/>
        </p:spPr>
        <p:txBody>
          <a:bodyPr wrap="square">
            <a:spAutoFit/>
          </a:bodyPr>
          <a:lstStyle/>
          <a:p>
            <a:pPr algn="l"/>
            <a:r>
              <a:rPr sz="1250" b="0" i="1">
                <a:solidFill>
                  <a:srgbClr val="B2DFDB"/>
                </a:solidFill>
                <a:latin typeface="Calibri"/>
              </a:rPr>
              <a:t>Making the Random Forest price model interpretable for business stakeholders</a:t>
            </a:r>
          </a:p>
        </p:txBody>
      </p:sp>
      <p:sp>
        <p:nvSpPr>
          <p:cNvPr id="7" name="Rectangle 6"/>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9" name="Rounded Rectangle 8"/>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1" name="TextBox 10"/>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Use SHAP (SHapley Additive exPlanations) to explain individual predictions from the Random Forest price model — demonstrating not just accuracy but interpretability.</a:t>
            </a:r>
          </a:p>
        </p:txBody>
      </p:sp>
      <p:sp>
        <p:nvSpPr>
          <p:cNvPr id="12" name="Rounded Rectangle 11"/>
          <p:cNvSpPr/>
          <p:nvPr/>
        </p:nvSpPr>
        <p:spPr>
          <a:xfrm>
            <a:off x="347472" y="1636776"/>
            <a:ext cx="1188720" cy="274320"/>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673352"/>
            <a:ext cx="1188720" cy="219456"/>
          </a:xfrm>
          <a:prstGeom prst="rect">
            <a:avLst/>
          </a:prstGeom>
          <a:noFill/>
        </p:spPr>
        <p:txBody>
          <a:bodyPr wrap="square">
            <a:spAutoFit/>
          </a:bodyPr>
          <a:lstStyle/>
          <a:p>
            <a:pPr algn="ctr"/>
            <a:r>
              <a:rPr sz="900" b="1" i="0">
                <a:solidFill>
                  <a:srgbClr val="FFFFFF"/>
                </a:solidFill>
                <a:latin typeface="Calibri"/>
              </a:rPr>
              <a:t>METHOD</a:t>
            </a:r>
          </a:p>
        </p:txBody>
      </p:sp>
      <p:sp>
        <p:nvSpPr>
          <p:cNvPr id="14" name="TextBox 13"/>
          <p:cNvSpPr txBox="1"/>
          <p:nvPr/>
        </p:nvSpPr>
        <p:spPr>
          <a:xfrm>
            <a:off x="1627632" y="1664208"/>
            <a:ext cx="10177272" cy="256032"/>
          </a:xfrm>
          <a:prstGeom prst="rect">
            <a:avLst/>
          </a:prstGeom>
          <a:noFill/>
        </p:spPr>
        <p:txBody>
          <a:bodyPr wrap="square">
            <a:spAutoFit/>
          </a:bodyPr>
          <a:lstStyle/>
          <a:p>
            <a:pPr algn="l"/>
            <a:r>
              <a:rPr sz="1150" b="1" i="0">
                <a:solidFill>
                  <a:srgbClr val="1D4F58"/>
                </a:solidFill>
                <a:latin typeface="Calibri"/>
              </a:rPr>
              <a:t>shap.TreeExplainer(model_rf); shap.summary_plot() for global importance; shap.force_plot() for individual prediction breakdown; compared against model.feature_importances_</a:t>
            </a:r>
          </a:p>
        </p:txBody>
      </p:sp>
      <p:sp>
        <p:nvSpPr>
          <p:cNvPr id="15" name="Rectangle 14"/>
          <p:cNvSpPr/>
          <p:nvPr/>
        </p:nvSpPr>
        <p:spPr>
          <a:xfrm>
            <a:off x="347472" y="2071788"/>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 y="2066544"/>
            <a:ext cx="2286000" cy="256032"/>
          </a:xfrm>
          <a:prstGeom prst="rect">
            <a:avLst/>
          </a:prstGeom>
          <a:noFill/>
        </p:spPr>
        <p:txBody>
          <a:bodyPr wrap="square">
            <a:spAutoFit/>
          </a:bodyPr>
          <a:lstStyle/>
          <a:p>
            <a:pPr algn="l"/>
            <a:r>
              <a:rPr sz="1200" b="1" i="0">
                <a:solidFill>
                  <a:srgbClr val="2E7D32"/>
                </a:solidFill>
                <a:latin typeface="Calibri"/>
              </a:rPr>
              <a:t>KEY FINDINGS</a:t>
            </a:r>
          </a:p>
        </p:txBody>
      </p:sp>
      <p:sp>
        <p:nvSpPr>
          <p:cNvPr id="17" name="Rectangle 16"/>
          <p:cNvSpPr/>
          <p:nvPr/>
        </p:nvSpPr>
        <p:spPr>
          <a:xfrm>
            <a:off x="347472" y="2350008"/>
            <a:ext cx="5760720" cy="3657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47472" y="2468880"/>
            <a:ext cx="292608" cy="292608"/>
          </a:xfrm>
          <a:prstGeom prst="roundRect">
            <a:avLst>
              <a:gd name="adj" fmla="val 6000"/>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2496312"/>
            <a:ext cx="292608" cy="237744"/>
          </a:xfrm>
          <a:prstGeom prst="rect">
            <a:avLst/>
          </a:prstGeom>
          <a:noFill/>
        </p:spPr>
        <p:txBody>
          <a:bodyPr wrap="square">
            <a:spAutoFit/>
          </a:bodyPr>
          <a:lstStyle/>
          <a:p>
            <a:pPr algn="ctr"/>
            <a:r>
              <a:rPr sz="1100" b="1" i="0">
                <a:solidFill>
                  <a:srgbClr val="FFFFFF"/>
                </a:solidFill>
                <a:latin typeface="Calibri"/>
              </a:rPr>
              <a:t>1</a:t>
            </a:r>
          </a:p>
        </p:txBody>
      </p:sp>
      <p:sp>
        <p:nvSpPr>
          <p:cNvPr id="20" name="TextBox 19"/>
          <p:cNvSpPr txBox="1"/>
          <p:nvPr/>
        </p:nvSpPr>
        <p:spPr>
          <a:xfrm>
            <a:off x="731520" y="2468880"/>
            <a:ext cx="5349240" cy="256032"/>
          </a:xfrm>
          <a:prstGeom prst="rect">
            <a:avLst/>
          </a:prstGeom>
          <a:noFill/>
        </p:spPr>
        <p:txBody>
          <a:bodyPr wrap="square">
            <a:spAutoFit/>
          </a:bodyPr>
          <a:lstStyle/>
          <a:p>
            <a:pPr algn="l"/>
            <a:r>
              <a:rPr sz="1300" b="1" i="0">
                <a:solidFill>
                  <a:srgbClr val="1D4F58"/>
                </a:solidFill>
                <a:latin typeface="Calibri"/>
              </a:rPr>
              <a:t>SHAP summary: distance &amp; time dominate globally</a:t>
            </a:r>
          </a:p>
        </p:txBody>
      </p:sp>
      <p:sp>
        <p:nvSpPr>
          <p:cNvPr id="21" name="TextBox 20"/>
          <p:cNvSpPr txBox="1"/>
          <p:nvPr/>
        </p:nvSpPr>
        <p:spPr>
          <a:xfrm>
            <a:off x="731520" y="2743200"/>
            <a:ext cx="5349240" cy="420624"/>
          </a:xfrm>
          <a:prstGeom prst="rect">
            <a:avLst/>
          </a:prstGeom>
          <a:noFill/>
        </p:spPr>
        <p:txBody>
          <a:bodyPr wrap="square">
            <a:spAutoFit/>
          </a:bodyPr>
          <a:lstStyle/>
          <a:p>
            <a:pPr algn="l"/>
            <a:r>
              <a:rPr sz="1150" b="0" i="0">
                <a:solidFill>
                  <a:srgbClr val="212121"/>
                </a:solidFill>
                <a:latin typeface="Calibri"/>
              </a:rPr>
              <a:t>The SHAP summary plot shows that distance and time have the highest absolute SHAP values across all predictions — confirming they are the universal price drivers, regardless of other factors.</a:t>
            </a:r>
          </a:p>
        </p:txBody>
      </p:sp>
      <p:sp>
        <p:nvSpPr>
          <p:cNvPr id="22" name="Rounded Rectangle 21"/>
          <p:cNvSpPr/>
          <p:nvPr/>
        </p:nvSpPr>
        <p:spPr>
          <a:xfrm>
            <a:off x="347472" y="3227832"/>
            <a:ext cx="292608" cy="292608"/>
          </a:xfrm>
          <a:prstGeom prst="roundRect">
            <a:avLst>
              <a:gd name="adj" fmla="val 6000"/>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3255264"/>
            <a:ext cx="292608" cy="237744"/>
          </a:xfrm>
          <a:prstGeom prst="rect">
            <a:avLst/>
          </a:prstGeom>
          <a:noFill/>
        </p:spPr>
        <p:txBody>
          <a:bodyPr wrap="square">
            <a:spAutoFit/>
          </a:bodyPr>
          <a:lstStyle/>
          <a:p>
            <a:pPr algn="ctr"/>
            <a:r>
              <a:rPr sz="1100" b="1" i="0">
                <a:solidFill>
                  <a:srgbClr val="FFFFFF"/>
                </a:solidFill>
                <a:latin typeface="Calibri"/>
              </a:rPr>
              <a:t>2</a:t>
            </a:r>
          </a:p>
        </p:txBody>
      </p:sp>
      <p:sp>
        <p:nvSpPr>
          <p:cNvPr id="24" name="TextBox 23"/>
          <p:cNvSpPr txBox="1"/>
          <p:nvPr/>
        </p:nvSpPr>
        <p:spPr>
          <a:xfrm>
            <a:off x="731520" y="3227832"/>
            <a:ext cx="5349240" cy="256032"/>
          </a:xfrm>
          <a:prstGeom prst="rect">
            <a:avLst/>
          </a:prstGeom>
          <a:noFill/>
        </p:spPr>
        <p:txBody>
          <a:bodyPr wrap="square">
            <a:spAutoFit/>
          </a:bodyPr>
          <a:lstStyle/>
          <a:p>
            <a:pPr algn="l"/>
            <a:r>
              <a:rPr sz="1300" b="1" i="0">
                <a:solidFill>
                  <a:srgbClr val="1565C0"/>
                </a:solidFill>
                <a:latin typeface="Calibri"/>
              </a:rPr>
              <a:t>Agency creates consistent positive/negative shifts</a:t>
            </a:r>
          </a:p>
        </p:txBody>
      </p:sp>
      <p:sp>
        <p:nvSpPr>
          <p:cNvPr id="25" name="TextBox 24"/>
          <p:cNvSpPr txBox="1"/>
          <p:nvPr/>
        </p:nvSpPr>
        <p:spPr>
          <a:xfrm>
            <a:off x="731520" y="3502152"/>
            <a:ext cx="5349240" cy="420624"/>
          </a:xfrm>
          <a:prstGeom prst="rect">
            <a:avLst/>
          </a:prstGeom>
          <a:noFill/>
        </p:spPr>
        <p:txBody>
          <a:bodyPr wrap="square">
            <a:spAutoFit/>
          </a:bodyPr>
          <a:lstStyle/>
          <a:p>
            <a:pPr algn="l"/>
            <a:r>
              <a:rPr sz="1150" b="0" i="0">
                <a:solidFill>
                  <a:srgbClr val="212121"/>
                </a:solidFill>
                <a:latin typeface="Calibri"/>
              </a:rPr>
              <a:t>FlyingDrops agency consistently adds positive SHAP value (premium pricing); budget agencies contribute negative SHAP (discount pricing). This makes agency a reliable, directionally consistent predictor.</a:t>
            </a:r>
          </a:p>
        </p:txBody>
      </p:sp>
      <p:sp>
        <p:nvSpPr>
          <p:cNvPr id="26" name="Rounded Rectangle 25"/>
          <p:cNvSpPr/>
          <p:nvPr/>
        </p:nvSpPr>
        <p:spPr>
          <a:xfrm>
            <a:off x="347472" y="3986784"/>
            <a:ext cx="292608" cy="292608"/>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7472" y="4014216"/>
            <a:ext cx="292608" cy="237744"/>
          </a:xfrm>
          <a:prstGeom prst="rect">
            <a:avLst/>
          </a:prstGeom>
          <a:noFill/>
        </p:spPr>
        <p:txBody>
          <a:bodyPr wrap="square">
            <a:spAutoFit/>
          </a:bodyPr>
          <a:lstStyle/>
          <a:p>
            <a:pPr algn="ctr"/>
            <a:r>
              <a:rPr sz="1100" b="1" i="0">
                <a:solidFill>
                  <a:srgbClr val="FFFFFF"/>
                </a:solidFill>
                <a:latin typeface="Calibri"/>
              </a:rPr>
              <a:t>3</a:t>
            </a:r>
          </a:p>
        </p:txBody>
      </p:sp>
      <p:sp>
        <p:nvSpPr>
          <p:cNvPr id="28" name="TextBox 27"/>
          <p:cNvSpPr txBox="1"/>
          <p:nvPr/>
        </p:nvSpPr>
        <p:spPr>
          <a:xfrm>
            <a:off x="731520" y="3986784"/>
            <a:ext cx="5349240" cy="256032"/>
          </a:xfrm>
          <a:prstGeom prst="rect">
            <a:avLst/>
          </a:prstGeom>
          <a:noFill/>
        </p:spPr>
        <p:txBody>
          <a:bodyPr wrap="square">
            <a:spAutoFit/>
          </a:bodyPr>
          <a:lstStyle/>
          <a:p>
            <a:pPr algn="l"/>
            <a:r>
              <a:rPr sz="1300" b="1" i="0">
                <a:solidFill>
                  <a:srgbClr val="F59E0B"/>
                </a:solidFill>
                <a:latin typeface="Calibri"/>
              </a:rPr>
              <a:t>First class adds a ~+800 SHAP value premium</a:t>
            </a:r>
          </a:p>
        </p:txBody>
      </p:sp>
      <p:sp>
        <p:nvSpPr>
          <p:cNvPr id="29" name="TextBox 28"/>
          <p:cNvSpPr txBox="1"/>
          <p:nvPr/>
        </p:nvSpPr>
        <p:spPr>
          <a:xfrm>
            <a:off x="731520" y="4261104"/>
            <a:ext cx="5349240" cy="420624"/>
          </a:xfrm>
          <a:prstGeom prst="rect">
            <a:avLst/>
          </a:prstGeom>
          <a:noFill/>
        </p:spPr>
        <p:txBody>
          <a:bodyPr wrap="square">
            <a:spAutoFit/>
          </a:bodyPr>
          <a:lstStyle/>
          <a:p>
            <a:pPr algn="l"/>
            <a:r>
              <a:rPr sz="1150" b="0" i="0">
                <a:solidFill>
                  <a:srgbClr val="212121"/>
                </a:solidFill>
                <a:latin typeface="Calibri"/>
              </a:rPr>
              <a:t>Individual SHAP force plots show that selecting 'firstClass' consistently adds approximately +800 units to the predicted price baseline — equivalent to a fixed class surcharge that applies regardless of route.</a:t>
            </a:r>
          </a:p>
        </p:txBody>
      </p:sp>
      <p:pic>
        <p:nvPicPr>
          <p:cNvPr id="30" name="Picture 29" descr="out_193_19.png"/>
          <p:cNvPicPr>
            <a:picLocks noChangeAspect="1"/>
          </p:cNvPicPr>
          <p:nvPr/>
        </p:nvPicPr>
        <p:blipFill>
          <a:blip r:embed="rId2"/>
          <a:stretch>
            <a:fillRect/>
          </a:stretch>
        </p:blipFill>
        <p:spPr>
          <a:xfrm>
            <a:off x="6236208" y="1261872"/>
            <a:ext cx="5596128" cy="5074920"/>
          </a:xfrm>
          <a:prstGeom prst="rect">
            <a:avLst/>
          </a:prstGeom>
        </p:spPr>
      </p:pic>
      <p:sp>
        <p:nvSpPr>
          <p:cNvPr id="31" name="TextBox 30"/>
          <p:cNvSpPr txBox="1"/>
          <p:nvPr/>
        </p:nvSpPr>
        <p:spPr>
          <a:xfrm>
            <a:off x="6291072" y="6140196"/>
            <a:ext cx="5596128" cy="256032"/>
          </a:xfrm>
          <a:prstGeom prst="rect">
            <a:avLst/>
          </a:prstGeom>
          <a:noFill/>
        </p:spPr>
        <p:txBody>
          <a:bodyPr wrap="square">
            <a:spAutoFit/>
          </a:bodyPr>
          <a:lstStyle/>
          <a:p>
            <a:pPr algn="ctr"/>
            <a:r>
              <a:rPr sz="950" b="0" i="1" dirty="0">
                <a:solidFill>
                  <a:srgbClr val="546E7A"/>
                </a:solidFill>
                <a:latin typeface="Calibri"/>
              </a:rPr>
              <a:t>Fig 13: SHAP values for Random Forest price model — distance and time dominate; </a:t>
            </a:r>
            <a:r>
              <a:rPr sz="950" b="0" i="1" dirty="0" err="1">
                <a:solidFill>
                  <a:srgbClr val="546E7A"/>
                </a:solidFill>
                <a:latin typeface="Calibri"/>
              </a:rPr>
              <a:t>flightType</a:t>
            </a:r>
            <a:r>
              <a:rPr sz="950" b="0" i="1" dirty="0">
                <a:solidFill>
                  <a:srgbClr val="546E7A"/>
                </a:solidFill>
                <a:latin typeface="Calibri"/>
              </a:rPr>
              <a:t> and agency provide directional shifts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43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43000"/>
            <a:ext cx="12188952"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18872"/>
            <a:ext cx="11155680" cy="658368"/>
          </a:xfrm>
          <a:prstGeom prst="rect">
            <a:avLst/>
          </a:prstGeom>
          <a:noFill/>
        </p:spPr>
        <p:txBody>
          <a:bodyPr wrap="square">
            <a:spAutoFit/>
          </a:bodyPr>
          <a:lstStyle/>
          <a:p>
            <a:pPr algn="l"/>
            <a:r>
              <a:rPr sz="2800" b="1" i="0">
                <a:solidFill>
                  <a:srgbClr val="FFFFFF"/>
                </a:solidFill>
                <a:latin typeface="Calibri"/>
              </a:rPr>
              <a:t>Conclusion &amp; Future Work</a:t>
            </a:r>
          </a:p>
        </p:txBody>
      </p:sp>
      <p:sp>
        <p:nvSpPr>
          <p:cNvPr id="6" name="Rectangle 5"/>
          <p:cNvSpPr/>
          <p:nvPr/>
        </p:nvSpPr>
        <p:spPr>
          <a:xfrm>
            <a:off x="0" y="6492240"/>
            <a:ext cx="12188952" cy="36576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320040"/>
          </a:xfrm>
          <a:prstGeom prst="rect">
            <a:avLst/>
          </a:prstGeom>
          <a:noFill/>
        </p:spPr>
        <p:txBody>
          <a:bodyPr wrap="square">
            <a:spAutoFit/>
          </a:bodyPr>
          <a:lstStyle/>
          <a:p>
            <a:pPr algn="l"/>
            <a:r>
              <a:rPr sz="900" b="0" i="0">
                <a:solidFill>
                  <a:srgbClr val="B2DFDB"/>
                </a:solidFill>
                <a:latin typeface="Calibri"/>
              </a:rPr>
              <a:t>Voyage Analytics: Integrating MLOps in Travel  |  Vishal Kumar Singh  |  2026</a:t>
            </a:r>
          </a:p>
        </p:txBody>
      </p:sp>
      <p:sp>
        <p:nvSpPr>
          <p:cNvPr id="8" name="Rounded Rectangle 7"/>
          <p:cNvSpPr/>
          <p:nvPr/>
        </p:nvSpPr>
        <p:spPr>
          <a:xfrm>
            <a:off x="347472" y="1298448"/>
            <a:ext cx="1188720" cy="274320"/>
          </a:xfrm>
          <a:prstGeom prst="roundRect">
            <a:avLst>
              <a:gd name="adj" fmla="val 6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 y="1335024"/>
            <a:ext cx="1188720" cy="219456"/>
          </a:xfrm>
          <a:prstGeom prst="rect">
            <a:avLst/>
          </a:prstGeom>
          <a:noFill/>
        </p:spPr>
        <p:txBody>
          <a:bodyPr wrap="square">
            <a:spAutoFit/>
          </a:bodyPr>
          <a:lstStyle/>
          <a:p>
            <a:pPr algn="ctr"/>
            <a:r>
              <a:rPr sz="900" b="1" i="0">
                <a:solidFill>
                  <a:srgbClr val="FFFFFF"/>
                </a:solidFill>
                <a:latin typeface="Calibri"/>
              </a:rPr>
              <a:t>OBJECTIVE</a:t>
            </a:r>
          </a:p>
        </p:txBody>
      </p:sp>
      <p:sp>
        <p:nvSpPr>
          <p:cNvPr id="10" name="TextBox 9"/>
          <p:cNvSpPr txBox="1"/>
          <p:nvPr/>
        </p:nvSpPr>
        <p:spPr>
          <a:xfrm>
            <a:off x="1627632" y="1325880"/>
            <a:ext cx="10177272" cy="256032"/>
          </a:xfrm>
          <a:prstGeom prst="rect">
            <a:avLst/>
          </a:prstGeom>
          <a:noFill/>
        </p:spPr>
        <p:txBody>
          <a:bodyPr wrap="square">
            <a:spAutoFit/>
          </a:bodyPr>
          <a:lstStyle/>
          <a:p>
            <a:pPr algn="l"/>
            <a:r>
              <a:rPr sz="1150" b="0" i="1">
                <a:solidFill>
                  <a:srgbClr val="546E7A"/>
                </a:solidFill>
                <a:latin typeface="Calibri"/>
              </a:rPr>
              <a:t>Summarise the 3 model results, the MLOps architecture deployed, and the business value delivered — and identify concrete improvements for the next iteration.</a:t>
            </a:r>
          </a:p>
        </p:txBody>
      </p:sp>
      <p:sp>
        <p:nvSpPr>
          <p:cNvPr id="11" name="Rectangle 10"/>
          <p:cNvSpPr/>
          <p:nvPr/>
        </p:nvSpPr>
        <p:spPr>
          <a:xfrm>
            <a:off x="347472" y="1728216"/>
            <a:ext cx="11475720" cy="32004"/>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2004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0040" y="2176272"/>
            <a:ext cx="3767328" cy="9144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249424"/>
            <a:ext cx="3611880" cy="292608"/>
          </a:xfrm>
          <a:prstGeom prst="rect">
            <a:avLst/>
          </a:prstGeom>
          <a:noFill/>
        </p:spPr>
        <p:txBody>
          <a:bodyPr wrap="square">
            <a:spAutoFit/>
          </a:bodyPr>
          <a:lstStyle/>
          <a:p>
            <a:pPr algn="ctr"/>
            <a:r>
              <a:rPr sz="1500" b="1" i="0">
                <a:solidFill>
                  <a:srgbClr val="1D4F58"/>
                </a:solidFill>
                <a:latin typeface="Calibri"/>
              </a:rPr>
              <a:t>Model Results</a:t>
            </a:r>
          </a:p>
        </p:txBody>
      </p:sp>
      <p:sp>
        <p:nvSpPr>
          <p:cNvPr id="15" name="TextBox 14"/>
          <p:cNvSpPr txBox="1"/>
          <p:nvPr/>
        </p:nvSpPr>
        <p:spPr>
          <a:xfrm>
            <a:off x="457200" y="2633472"/>
            <a:ext cx="3611880" cy="530352"/>
          </a:xfrm>
          <a:prstGeom prst="rect">
            <a:avLst/>
          </a:prstGeom>
          <a:noFill/>
        </p:spPr>
        <p:txBody>
          <a:bodyPr wrap="square">
            <a:spAutoFit/>
          </a:bodyPr>
          <a:lstStyle/>
          <a:p>
            <a:pPr algn="l"/>
            <a:r>
              <a:rPr sz="1150" b="0" i="0">
                <a:solidFill>
                  <a:srgbClr val="212121"/>
                </a:solidFill>
                <a:latin typeface="Calibri"/>
              </a:rPr>
              <a:t>▸  Price Prediction (RF): R²≈1 — near-perfect accuracy</a:t>
            </a:r>
          </a:p>
        </p:txBody>
      </p:sp>
      <p:sp>
        <p:nvSpPr>
          <p:cNvPr id="16" name="TextBox 15"/>
          <p:cNvSpPr txBox="1"/>
          <p:nvPr/>
        </p:nvSpPr>
        <p:spPr>
          <a:xfrm>
            <a:off x="457200" y="3182112"/>
            <a:ext cx="3611880" cy="530352"/>
          </a:xfrm>
          <a:prstGeom prst="rect">
            <a:avLst/>
          </a:prstGeom>
          <a:noFill/>
        </p:spPr>
        <p:txBody>
          <a:bodyPr wrap="square">
            <a:spAutoFit/>
          </a:bodyPr>
          <a:lstStyle/>
          <a:p>
            <a:pPr algn="l"/>
            <a:r>
              <a:rPr sz="1150" b="0" i="0">
                <a:solidFill>
                  <a:srgbClr val="212121"/>
                </a:solidFill>
                <a:latin typeface="Calibri"/>
              </a:rPr>
              <a:t>▸  Gender Classification: accurate on clearly gendered names</a:t>
            </a:r>
          </a:p>
        </p:txBody>
      </p:sp>
      <p:sp>
        <p:nvSpPr>
          <p:cNvPr id="17" name="TextBox 16"/>
          <p:cNvSpPr txBox="1"/>
          <p:nvPr/>
        </p:nvSpPr>
        <p:spPr>
          <a:xfrm>
            <a:off x="457200" y="3730752"/>
            <a:ext cx="3611880" cy="530352"/>
          </a:xfrm>
          <a:prstGeom prst="rect">
            <a:avLst/>
          </a:prstGeom>
          <a:noFill/>
        </p:spPr>
        <p:txBody>
          <a:bodyPr wrap="square">
            <a:spAutoFit/>
          </a:bodyPr>
          <a:lstStyle/>
          <a:p>
            <a:pPr algn="l"/>
            <a:r>
              <a:rPr sz="1150" b="0" i="0">
                <a:solidFill>
                  <a:srgbClr val="212121"/>
                </a:solidFill>
                <a:latin typeface="Calibri"/>
              </a:rPr>
              <a:t>▸  Hotel Recommendation: cosine similarity engine live</a:t>
            </a:r>
          </a:p>
        </p:txBody>
      </p:sp>
      <p:sp>
        <p:nvSpPr>
          <p:cNvPr id="18" name="TextBox 17"/>
          <p:cNvSpPr txBox="1"/>
          <p:nvPr/>
        </p:nvSpPr>
        <p:spPr>
          <a:xfrm>
            <a:off x="457200" y="4279392"/>
            <a:ext cx="3611880" cy="530352"/>
          </a:xfrm>
          <a:prstGeom prst="rect">
            <a:avLst/>
          </a:prstGeom>
          <a:noFill/>
        </p:spPr>
        <p:txBody>
          <a:bodyPr wrap="square">
            <a:spAutoFit/>
          </a:bodyPr>
          <a:lstStyle/>
          <a:p>
            <a:pPr algn="l"/>
            <a:r>
              <a:rPr sz="1150" b="0" i="0">
                <a:solidFill>
                  <a:srgbClr val="212121"/>
                </a:solidFill>
                <a:latin typeface="Calibri"/>
              </a:rPr>
              <a:t>▸  SHAP explainability: distance &amp; agency are top drivers</a:t>
            </a:r>
          </a:p>
        </p:txBody>
      </p:sp>
      <p:sp>
        <p:nvSpPr>
          <p:cNvPr id="19" name="TextBox 18"/>
          <p:cNvSpPr txBox="1"/>
          <p:nvPr/>
        </p:nvSpPr>
        <p:spPr>
          <a:xfrm>
            <a:off x="457200" y="4828032"/>
            <a:ext cx="3611880" cy="530352"/>
          </a:xfrm>
          <a:prstGeom prst="rect">
            <a:avLst/>
          </a:prstGeom>
          <a:noFill/>
        </p:spPr>
        <p:txBody>
          <a:bodyPr wrap="square">
            <a:spAutoFit/>
          </a:bodyPr>
          <a:lstStyle/>
          <a:p>
            <a:pPr algn="l"/>
            <a:r>
              <a:rPr sz="1150" b="0" i="0">
                <a:solidFill>
                  <a:srgbClr val="212121"/>
                </a:solidFill>
                <a:latin typeface="Calibri"/>
              </a:rPr>
              <a:t>▸  ElasticNet lags — non-linear models essential for travel</a:t>
            </a:r>
          </a:p>
        </p:txBody>
      </p:sp>
      <p:sp>
        <p:nvSpPr>
          <p:cNvPr id="20" name="TextBox 19"/>
          <p:cNvSpPr txBox="1"/>
          <p:nvPr/>
        </p:nvSpPr>
        <p:spPr>
          <a:xfrm>
            <a:off x="457200" y="5376672"/>
            <a:ext cx="3611880" cy="530352"/>
          </a:xfrm>
          <a:prstGeom prst="rect">
            <a:avLst/>
          </a:prstGeom>
          <a:noFill/>
        </p:spPr>
        <p:txBody>
          <a:bodyPr wrap="square">
            <a:spAutoFit/>
          </a:bodyPr>
          <a:lstStyle/>
          <a:p>
            <a:pPr algn="l"/>
            <a:r>
              <a:rPr sz="1150" b="0" i="0">
                <a:solidFill>
                  <a:srgbClr val="212121"/>
                </a:solidFill>
                <a:latin typeface="Calibri"/>
              </a:rPr>
              <a:t>▸  All 3 models tracked in MLflow model registry</a:t>
            </a:r>
          </a:p>
        </p:txBody>
      </p:sp>
      <p:sp>
        <p:nvSpPr>
          <p:cNvPr id="21" name="Rectangle 20"/>
          <p:cNvSpPr/>
          <p:nvPr/>
        </p:nvSpPr>
        <p:spPr>
          <a:xfrm>
            <a:off x="425196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51960" y="2176272"/>
            <a:ext cx="3767328"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389120" y="2249424"/>
            <a:ext cx="3611880" cy="292608"/>
          </a:xfrm>
          <a:prstGeom prst="rect">
            <a:avLst/>
          </a:prstGeom>
          <a:noFill/>
        </p:spPr>
        <p:txBody>
          <a:bodyPr wrap="square">
            <a:spAutoFit/>
          </a:bodyPr>
          <a:lstStyle/>
          <a:p>
            <a:pPr algn="ctr"/>
            <a:r>
              <a:rPr sz="1500" b="1" i="0">
                <a:solidFill>
                  <a:srgbClr val="1565C0"/>
                </a:solidFill>
                <a:latin typeface="Calibri"/>
              </a:rPr>
              <a:t>MLOps Delivered</a:t>
            </a:r>
          </a:p>
        </p:txBody>
      </p:sp>
      <p:sp>
        <p:nvSpPr>
          <p:cNvPr id="24" name="TextBox 23"/>
          <p:cNvSpPr txBox="1"/>
          <p:nvPr/>
        </p:nvSpPr>
        <p:spPr>
          <a:xfrm>
            <a:off x="4389120" y="2633472"/>
            <a:ext cx="3611880" cy="530352"/>
          </a:xfrm>
          <a:prstGeom prst="rect">
            <a:avLst/>
          </a:prstGeom>
          <a:noFill/>
        </p:spPr>
        <p:txBody>
          <a:bodyPr wrap="square">
            <a:spAutoFit/>
          </a:bodyPr>
          <a:lstStyle/>
          <a:p>
            <a:pPr algn="l"/>
            <a:r>
              <a:rPr sz="1150" b="0" i="0">
                <a:solidFill>
                  <a:srgbClr val="212121"/>
                </a:solidFill>
                <a:latin typeface="Calibri"/>
              </a:rPr>
              <a:t>▸  MLflow: every run logged with metrics &amp; artifacts</a:t>
            </a:r>
          </a:p>
        </p:txBody>
      </p:sp>
      <p:sp>
        <p:nvSpPr>
          <p:cNvPr id="25" name="TextBox 24"/>
          <p:cNvSpPr txBox="1"/>
          <p:nvPr/>
        </p:nvSpPr>
        <p:spPr>
          <a:xfrm>
            <a:off x="4389120" y="3182112"/>
            <a:ext cx="3611880" cy="530352"/>
          </a:xfrm>
          <a:prstGeom prst="rect">
            <a:avLst/>
          </a:prstGeom>
          <a:noFill/>
        </p:spPr>
        <p:txBody>
          <a:bodyPr wrap="square">
            <a:spAutoFit/>
          </a:bodyPr>
          <a:lstStyle/>
          <a:p>
            <a:pPr algn="l"/>
            <a:r>
              <a:rPr sz="1150" b="0" i="0">
                <a:solidFill>
                  <a:srgbClr val="212121"/>
                </a:solidFill>
                <a:latin typeface="Calibri"/>
              </a:rPr>
              <a:t>▸  Docker: reproducible containers for all 3 models</a:t>
            </a:r>
          </a:p>
        </p:txBody>
      </p:sp>
      <p:sp>
        <p:nvSpPr>
          <p:cNvPr id="26" name="TextBox 25"/>
          <p:cNvSpPr txBox="1"/>
          <p:nvPr/>
        </p:nvSpPr>
        <p:spPr>
          <a:xfrm>
            <a:off x="4389120" y="3730752"/>
            <a:ext cx="3611880" cy="530352"/>
          </a:xfrm>
          <a:prstGeom prst="rect">
            <a:avLst/>
          </a:prstGeom>
          <a:noFill/>
        </p:spPr>
        <p:txBody>
          <a:bodyPr wrap="square">
            <a:spAutoFit/>
          </a:bodyPr>
          <a:lstStyle/>
          <a:p>
            <a:pPr algn="l"/>
            <a:r>
              <a:rPr sz="1150" b="0" i="0">
                <a:solidFill>
                  <a:srgbClr val="212121"/>
                </a:solidFill>
                <a:latin typeface="Calibri"/>
              </a:rPr>
              <a:t>▸  Streamlit: browser UI for non-technical stakeholders</a:t>
            </a:r>
          </a:p>
        </p:txBody>
      </p:sp>
      <p:sp>
        <p:nvSpPr>
          <p:cNvPr id="27" name="TextBox 26"/>
          <p:cNvSpPr txBox="1"/>
          <p:nvPr/>
        </p:nvSpPr>
        <p:spPr>
          <a:xfrm>
            <a:off x="4389120" y="4279392"/>
            <a:ext cx="3611880" cy="530352"/>
          </a:xfrm>
          <a:prstGeom prst="rect">
            <a:avLst/>
          </a:prstGeom>
          <a:noFill/>
        </p:spPr>
        <p:txBody>
          <a:bodyPr wrap="square">
            <a:spAutoFit/>
          </a:bodyPr>
          <a:lstStyle/>
          <a:p>
            <a:pPr algn="l"/>
            <a:r>
              <a:rPr sz="1150" b="0" i="0">
                <a:solidFill>
                  <a:srgbClr val="212121"/>
                </a:solidFill>
                <a:latin typeface="Calibri"/>
              </a:rPr>
              <a:t>▸  Airflow: weekly retraining pipeline (DAG-based)</a:t>
            </a:r>
          </a:p>
        </p:txBody>
      </p:sp>
      <p:sp>
        <p:nvSpPr>
          <p:cNvPr id="28" name="TextBox 27"/>
          <p:cNvSpPr txBox="1"/>
          <p:nvPr/>
        </p:nvSpPr>
        <p:spPr>
          <a:xfrm>
            <a:off x="4389120" y="4828032"/>
            <a:ext cx="3611880" cy="530352"/>
          </a:xfrm>
          <a:prstGeom prst="rect">
            <a:avLst/>
          </a:prstGeom>
          <a:noFill/>
        </p:spPr>
        <p:txBody>
          <a:bodyPr wrap="square">
            <a:spAutoFit/>
          </a:bodyPr>
          <a:lstStyle/>
          <a:p>
            <a:pPr algn="l"/>
            <a:r>
              <a:rPr sz="1150" b="0" i="0">
                <a:solidFill>
                  <a:srgbClr val="212121"/>
                </a:solidFill>
                <a:latin typeface="Calibri"/>
              </a:rPr>
              <a:t>▸  StandardScaler + encoders saved as pipeline artifacts</a:t>
            </a:r>
          </a:p>
        </p:txBody>
      </p:sp>
      <p:sp>
        <p:nvSpPr>
          <p:cNvPr id="29" name="TextBox 28"/>
          <p:cNvSpPr txBox="1"/>
          <p:nvPr/>
        </p:nvSpPr>
        <p:spPr>
          <a:xfrm>
            <a:off x="4389120" y="5376672"/>
            <a:ext cx="3611880" cy="530352"/>
          </a:xfrm>
          <a:prstGeom prst="rect">
            <a:avLst/>
          </a:prstGeom>
          <a:noFill/>
        </p:spPr>
        <p:txBody>
          <a:bodyPr wrap="square">
            <a:spAutoFit/>
          </a:bodyPr>
          <a:lstStyle/>
          <a:p>
            <a:pPr algn="l"/>
            <a:r>
              <a:rPr sz="1150" b="0" i="0">
                <a:solidFill>
                  <a:srgbClr val="212121"/>
                </a:solidFill>
                <a:latin typeface="Calibri"/>
              </a:rPr>
              <a:t>▸  Model versioning: champion vs challenger comparison</a:t>
            </a:r>
          </a:p>
        </p:txBody>
      </p:sp>
      <p:sp>
        <p:nvSpPr>
          <p:cNvPr id="30" name="Rectangle 29"/>
          <p:cNvSpPr/>
          <p:nvPr/>
        </p:nvSpPr>
        <p:spPr>
          <a:xfrm>
            <a:off x="8183880" y="2176272"/>
            <a:ext cx="3767328" cy="411480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83880" y="2176272"/>
            <a:ext cx="3767328"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21040" y="2249424"/>
            <a:ext cx="3611880" cy="292608"/>
          </a:xfrm>
          <a:prstGeom prst="rect">
            <a:avLst/>
          </a:prstGeom>
          <a:noFill/>
        </p:spPr>
        <p:txBody>
          <a:bodyPr wrap="square">
            <a:spAutoFit/>
          </a:bodyPr>
          <a:lstStyle/>
          <a:p>
            <a:pPr algn="ctr"/>
            <a:r>
              <a:rPr sz="1500" b="1" i="0">
                <a:solidFill>
                  <a:srgbClr val="F59E0B"/>
                </a:solidFill>
                <a:latin typeface="Calibri"/>
              </a:rPr>
              <a:t>Future Work</a:t>
            </a:r>
          </a:p>
        </p:txBody>
      </p:sp>
      <p:sp>
        <p:nvSpPr>
          <p:cNvPr id="33" name="TextBox 32"/>
          <p:cNvSpPr txBox="1"/>
          <p:nvPr/>
        </p:nvSpPr>
        <p:spPr>
          <a:xfrm>
            <a:off x="8321040" y="2633472"/>
            <a:ext cx="3611880" cy="530352"/>
          </a:xfrm>
          <a:prstGeom prst="rect">
            <a:avLst/>
          </a:prstGeom>
          <a:noFill/>
        </p:spPr>
        <p:txBody>
          <a:bodyPr wrap="square">
            <a:spAutoFit/>
          </a:bodyPr>
          <a:lstStyle/>
          <a:p>
            <a:pPr algn="l"/>
            <a:r>
              <a:rPr sz="1150" b="0" i="0">
                <a:solidFill>
                  <a:srgbClr val="212121"/>
                </a:solidFill>
                <a:latin typeface="Calibri"/>
              </a:rPr>
              <a:t>▸  Add real-time price API feed for live fare comparison</a:t>
            </a:r>
          </a:p>
        </p:txBody>
      </p:sp>
      <p:sp>
        <p:nvSpPr>
          <p:cNvPr id="34" name="TextBox 33"/>
          <p:cNvSpPr txBox="1"/>
          <p:nvPr/>
        </p:nvSpPr>
        <p:spPr>
          <a:xfrm>
            <a:off x="8321040" y="3182112"/>
            <a:ext cx="3611880" cy="530352"/>
          </a:xfrm>
          <a:prstGeom prst="rect">
            <a:avLst/>
          </a:prstGeom>
          <a:noFill/>
        </p:spPr>
        <p:txBody>
          <a:bodyPr wrap="square">
            <a:spAutoFit/>
          </a:bodyPr>
          <a:lstStyle/>
          <a:p>
            <a:pPr algn="l"/>
            <a:r>
              <a:rPr sz="1150" b="0" i="0">
                <a:solidFill>
                  <a:srgbClr val="212121"/>
                </a:solidFill>
                <a:latin typeface="Calibri"/>
              </a:rPr>
              <a:t>▸  Improve hotel engine with collaborative filtering (user history)</a:t>
            </a:r>
          </a:p>
        </p:txBody>
      </p:sp>
      <p:sp>
        <p:nvSpPr>
          <p:cNvPr id="35" name="TextBox 34"/>
          <p:cNvSpPr txBox="1"/>
          <p:nvPr/>
        </p:nvSpPr>
        <p:spPr>
          <a:xfrm>
            <a:off x="8321040" y="3730752"/>
            <a:ext cx="3611880" cy="530352"/>
          </a:xfrm>
          <a:prstGeom prst="rect">
            <a:avLst/>
          </a:prstGeom>
          <a:noFill/>
        </p:spPr>
        <p:txBody>
          <a:bodyPr wrap="square">
            <a:spAutoFit/>
          </a:bodyPr>
          <a:lstStyle/>
          <a:p>
            <a:pPr algn="l"/>
            <a:r>
              <a:rPr sz="1150" b="0" i="0">
                <a:solidFill>
                  <a:srgbClr val="212121"/>
                </a:solidFill>
                <a:latin typeface="Calibri"/>
              </a:rPr>
              <a:t>▸  Deploy on AWS SageMaker / GCP Vertex AI for scale</a:t>
            </a:r>
          </a:p>
        </p:txBody>
      </p:sp>
      <p:sp>
        <p:nvSpPr>
          <p:cNvPr id="36" name="TextBox 35"/>
          <p:cNvSpPr txBox="1"/>
          <p:nvPr/>
        </p:nvSpPr>
        <p:spPr>
          <a:xfrm>
            <a:off x="8321040" y="4279392"/>
            <a:ext cx="3611880" cy="530352"/>
          </a:xfrm>
          <a:prstGeom prst="rect">
            <a:avLst/>
          </a:prstGeom>
          <a:noFill/>
        </p:spPr>
        <p:txBody>
          <a:bodyPr wrap="square">
            <a:spAutoFit/>
          </a:bodyPr>
          <a:lstStyle/>
          <a:p>
            <a:pPr algn="l"/>
            <a:r>
              <a:rPr sz="1150" b="0" i="0">
                <a:solidFill>
                  <a:srgbClr val="212121"/>
                </a:solidFill>
                <a:latin typeface="Calibri"/>
              </a:rPr>
              <a:t>▸  Add drift monitoring: alert when price distribution shifts</a:t>
            </a:r>
          </a:p>
        </p:txBody>
      </p:sp>
      <p:sp>
        <p:nvSpPr>
          <p:cNvPr id="37" name="TextBox 36"/>
          <p:cNvSpPr txBox="1"/>
          <p:nvPr/>
        </p:nvSpPr>
        <p:spPr>
          <a:xfrm>
            <a:off x="8321040" y="4828032"/>
            <a:ext cx="3611880" cy="530352"/>
          </a:xfrm>
          <a:prstGeom prst="rect">
            <a:avLst/>
          </a:prstGeom>
          <a:noFill/>
        </p:spPr>
        <p:txBody>
          <a:bodyPr wrap="square">
            <a:spAutoFit/>
          </a:bodyPr>
          <a:lstStyle/>
          <a:p>
            <a:pPr algn="l"/>
            <a:r>
              <a:rPr sz="1150" b="0" i="0">
                <a:solidFill>
                  <a:srgbClr val="212121"/>
                </a:solidFill>
                <a:latin typeface="Calibri"/>
              </a:rPr>
              <a:t>▸  Extend gender model to non-binary classification</a:t>
            </a:r>
          </a:p>
        </p:txBody>
      </p:sp>
      <p:sp>
        <p:nvSpPr>
          <p:cNvPr id="38" name="TextBox 37"/>
          <p:cNvSpPr txBox="1"/>
          <p:nvPr/>
        </p:nvSpPr>
        <p:spPr>
          <a:xfrm>
            <a:off x="8321040" y="5376672"/>
            <a:ext cx="3611880" cy="530352"/>
          </a:xfrm>
          <a:prstGeom prst="rect">
            <a:avLst/>
          </a:prstGeom>
          <a:noFill/>
        </p:spPr>
        <p:txBody>
          <a:bodyPr wrap="square">
            <a:spAutoFit/>
          </a:bodyPr>
          <a:lstStyle/>
          <a:p>
            <a:pPr algn="l"/>
            <a:r>
              <a:rPr sz="1150" b="0" i="0">
                <a:solidFill>
                  <a:srgbClr val="212121"/>
                </a:solidFill>
                <a:latin typeface="Calibri"/>
              </a:rPr>
              <a:t>▸  A/B test Streamlit recommendations vs. baseline conversion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A2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66560"/>
            <a:ext cx="12188952"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863840" y="0"/>
            <a:ext cx="4325112" cy="6858000"/>
          </a:xfrm>
          <a:prstGeom prst="rect">
            <a:avLst/>
          </a:prstGeom>
          <a:solidFill>
            <a:srgbClr val="1D4F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7132320" cy="914400"/>
          </a:xfrm>
          <a:prstGeom prst="rect">
            <a:avLst/>
          </a:prstGeom>
          <a:noFill/>
        </p:spPr>
        <p:txBody>
          <a:bodyPr wrap="square">
            <a:spAutoFit/>
          </a:bodyPr>
          <a:lstStyle/>
          <a:p>
            <a:pPr algn="l"/>
            <a:r>
              <a:rPr sz="5200" b="1" i="0">
                <a:solidFill>
                  <a:srgbClr val="FFFFFF"/>
                </a:solidFill>
                <a:latin typeface="Calibri"/>
              </a:rPr>
              <a:t>Thank You</a:t>
            </a:r>
          </a:p>
        </p:txBody>
      </p:sp>
      <p:sp>
        <p:nvSpPr>
          <p:cNvPr id="7" name="TextBox 6"/>
          <p:cNvSpPr txBox="1"/>
          <p:nvPr/>
        </p:nvSpPr>
        <p:spPr>
          <a:xfrm>
            <a:off x="457200" y="2633472"/>
            <a:ext cx="7132320" cy="457200"/>
          </a:xfrm>
          <a:prstGeom prst="rect">
            <a:avLst/>
          </a:prstGeom>
          <a:noFill/>
        </p:spPr>
        <p:txBody>
          <a:bodyPr wrap="square">
            <a:spAutoFit/>
          </a:bodyPr>
          <a:lstStyle/>
          <a:p>
            <a:pPr algn="l"/>
            <a:r>
              <a:rPr sz="2400" b="0" i="0">
                <a:solidFill>
                  <a:srgbClr val="F59E0B"/>
                </a:solidFill>
                <a:latin typeface="Calibri"/>
              </a:rPr>
              <a:t>Questions &amp; Discussion</a:t>
            </a:r>
          </a:p>
        </p:txBody>
      </p:sp>
      <p:sp>
        <p:nvSpPr>
          <p:cNvPr id="8" name="Rectangle 7"/>
          <p:cNvSpPr/>
          <p:nvPr/>
        </p:nvSpPr>
        <p:spPr>
          <a:xfrm>
            <a:off x="457200" y="3246120"/>
            <a:ext cx="32004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429000"/>
            <a:ext cx="6858000" cy="475488"/>
          </a:xfrm>
          <a:prstGeom prst="rect">
            <a:avLst/>
          </a:prstGeom>
          <a:noFill/>
        </p:spPr>
        <p:txBody>
          <a:bodyPr wrap="square">
            <a:spAutoFit/>
          </a:bodyPr>
          <a:lstStyle/>
          <a:p>
            <a:pPr algn="l"/>
            <a:r>
              <a:rPr sz="2200" b="1" i="0">
                <a:solidFill>
                  <a:srgbClr val="FFFFFF"/>
                </a:solidFill>
                <a:latin typeface="Calibri"/>
              </a:rPr>
              <a:t>Vishal Kumar Singh</a:t>
            </a:r>
          </a:p>
        </p:txBody>
      </p:sp>
      <p:sp>
        <p:nvSpPr>
          <p:cNvPr id="10" name="TextBox 9"/>
          <p:cNvSpPr txBox="1"/>
          <p:nvPr/>
        </p:nvSpPr>
        <p:spPr>
          <a:xfrm>
            <a:off x="457200" y="3950208"/>
            <a:ext cx="6858000" cy="292608"/>
          </a:xfrm>
          <a:prstGeom prst="rect">
            <a:avLst/>
          </a:prstGeom>
          <a:noFill/>
        </p:spPr>
        <p:txBody>
          <a:bodyPr wrap="square">
            <a:spAutoFit/>
          </a:bodyPr>
          <a:lstStyle/>
          <a:p>
            <a:pPr algn="l"/>
            <a:r>
              <a:rPr sz="1300" b="0" i="0">
                <a:solidFill>
                  <a:srgbClr val="B2DFDB"/>
                </a:solidFill>
                <a:latin typeface="Calibri"/>
              </a:rPr>
              <a:t>AlmaBetter  |  M.Sc. Data Science  |  2026</a:t>
            </a:r>
          </a:p>
        </p:txBody>
      </p:sp>
      <p:sp>
        <p:nvSpPr>
          <p:cNvPr id="11" name="TextBox 10"/>
          <p:cNvSpPr txBox="1"/>
          <p:nvPr/>
        </p:nvSpPr>
        <p:spPr>
          <a:xfrm>
            <a:off x="8092440" y="1280160"/>
            <a:ext cx="3749039" cy="438912"/>
          </a:xfrm>
          <a:prstGeom prst="rect">
            <a:avLst/>
          </a:prstGeom>
          <a:noFill/>
        </p:spPr>
        <p:txBody>
          <a:bodyPr wrap="square">
            <a:spAutoFit/>
          </a:bodyPr>
          <a:lstStyle/>
          <a:p>
            <a:pPr algn="l"/>
            <a:r>
              <a:rPr sz="1300" b="0" i="0">
                <a:solidFill>
                  <a:srgbClr val="FFFFFF"/>
                </a:solidFill>
                <a:latin typeface="Calibri"/>
              </a:rPr>
              <a:t>✓ 271,888 travel records — 3 datasets merged</a:t>
            </a:r>
          </a:p>
        </p:txBody>
      </p:sp>
      <p:sp>
        <p:nvSpPr>
          <p:cNvPr id="12" name="TextBox 11"/>
          <p:cNvSpPr txBox="1"/>
          <p:nvPr/>
        </p:nvSpPr>
        <p:spPr>
          <a:xfrm>
            <a:off x="8092440" y="1865376"/>
            <a:ext cx="3749039" cy="438912"/>
          </a:xfrm>
          <a:prstGeom prst="rect">
            <a:avLst/>
          </a:prstGeom>
          <a:noFill/>
        </p:spPr>
        <p:txBody>
          <a:bodyPr wrap="square">
            <a:spAutoFit/>
          </a:bodyPr>
          <a:lstStyle/>
          <a:p>
            <a:pPr algn="l"/>
            <a:r>
              <a:rPr sz="1300" b="0" i="0">
                <a:solidFill>
                  <a:srgbClr val="FFFFFF"/>
                </a:solidFill>
                <a:latin typeface="Calibri"/>
              </a:rPr>
              <a:t>✓ EDA: top route Aracaju↔Florianopolis (8K+ flights)</a:t>
            </a:r>
          </a:p>
        </p:txBody>
      </p:sp>
      <p:sp>
        <p:nvSpPr>
          <p:cNvPr id="13" name="TextBox 12"/>
          <p:cNvSpPr txBox="1"/>
          <p:nvPr/>
        </p:nvSpPr>
        <p:spPr>
          <a:xfrm>
            <a:off x="8092440" y="2450592"/>
            <a:ext cx="3749039" cy="438912"/>
          </a:xfrm>
          <a:prstGeom prst="rect">
            <a:avLst/>
          </a:prstGeom>
          <a:noFill/>
        </p:spPr>
        <p:txBody>
          <a:bodyPr wrap="square">
            <a:spAutoFit/>
          </a:bodyPr>
          <a:lstStyle/>
          <a:p>
            <a:pPr algn="l"/>
            <a:r>
              <a:rPr sz="1300" b="0" i="0">
                <a:solidFill>
                  <a:srgbClr val="FFFFFF"/>
                </a:solidFill>
                <a:latin typeface="Calibri"/>
              </a:rPr>
              <a:t>✓ RF Price Model: R²≈1 (near-perfect accuracy)</a:t>
            </a:r>
          </a:p>
        </p:txBody>
      </p:sp>
      <p:sp>
        <p:nvSpPr>
          <p:cNvPr id="14" name="TextBox 13"/>
          <p:cNvSpPr txBox="1"/>
          <p:nvPr/>
        </p:nvSpPr>
        <p:spPr>
          <a:xfrm>
            <a:off x="8092440" y="3035808"/>
            <a:ext cx="3749039" cy="438912"/>
          </a:xfrm>
          <a:prstGeom prst="rect">
            <a:avLst/>
          </a:prstGeom>
          <a:noFill/>
        </p:spPr>
        <p:txBody>
          <a:bodyPr wrap="square">
            <a:spAutoFit/>
          </a:bodyPr>
          <a:lstStyle/>
          <a:p>
            <a:pPr algn="l"/>
            <a:r>
              <a:rPr sz="1300" b="0" i="0">
                <a:solidFill>
                  <a:srgbClr val="FFFFFF"/>
                </a:solidFill>
                <a:latin typeface="Calibri"/>
              </a:rPr>
              <a:t>✓ Gender: Sentence Transformers + PCA classifier</a:t>
            </a:r>
          </a:p>
        </p:txBody>
      </p:sp>
      <p:sp>
        <p:nvSpPr>
          <p:cNvPr id="15" name="TextBox 14"/>
          <p:cNvSpPr txBox="1"/>
          <p:nvPr/>
        </p:nvSpPr>
        <p:spPr>
          <a:xfrm>
            <a:off x="8092440" y="3621024"/>
            <a:ext cx="3749039" cy="438912"/>
          </a:xfrm>
          <a:prstGeom prst="rect">
            <a:avLst/>
          </a:prstGeom>
          <a:noFill/>
        </p:spPr>
        <p:txBody>
          <a:bodyPr wrap="square">
            <a:spAutoFit/>
          </a:bodyPr>
          <a:lstStyle/>
          <a:p>
            <a:pPr algn="l"/>
            <a:r>
              <a:rPr sz="1300" b="0" i="0">
                <a:solidFill>
                  <a:srgbClr val="FFFFFF"/>
                </a:solidFill>
                <a:latin typeface="Calibri"/>
              </a:rPr>
              <a:t>✓ Hotels: content-based cosine similarity engine</a:t>
            </a:r>
          </a:p>
        </p:txBody>
      </p:sp>
      <p:sp>
        <p:nvSpPr>
          <p:cNvPr id="16" name="TextBox 15"/>
          <p:cNvSpPr txBox="1"/>
          <p:nvPr/>
        </p:nvSpPr>
        <p:spPr>
          <a:xfrm>
            <a:off x="8092440" y="4206240"/>
            <a:ext cx="3749039" cy="438912"/>
          </a:xfrm>
          <a:prstGeom prst="rect">
            <a:avLst/>
          </a:prstGeom>
          <a:noFill/>
        </p:spPr>
        <p:txBody>
          <a:bodyPr wrap="square">
            <a:spAutoFit/>
          </a:bodyPr>
          <a:lstStyle/>
          <a:p>
            <a:pPr algn="l"/>
            <a:r>
              <a:rPr sz="1300" b="0" i="0">
                <a:solidFill>
                  <a:srgbClr val="FFFFFF"/>
                </a:solidFill>
                <a:latin typeface="Calibri"/>
              </a:rPr>
              <a:t>✓ SHAP: distance &amp; agency are top price drivers</a:t>
            </a:r>
          </a:p>
        </p:txBody>
      </p:sp>
      <p:sp>
        <p:nvSpPr>
          <p:cNvPr id="17" name="TextBox 16"/>
          <p:cNvSpPr txBox="1"/>
          <p:nvPr/>
        </p:nvSpPr>
        <p:spPr>
          <a:xfrm>
            <a:off x="8092440" y="4791456"/>
            <a:ext cx="3749039" cy="438912"/>
          </a:xfrm>
          <a:prstGeom prst="rect">
            <a:avLst/>
          </a:prstGeom>
          <a:noFill/>
        </p:spPr>
        <p:txBody>
          <a:bodyPr wrap="square">
            <a:spAutoFit/>
          </a:bodyPr>
          <a:lstStyle/>
          <a:p>
            <a:pPr algn="l"/>
            <a:r>
              <a:rPr sz="1300" b="0" i="0">
                <a:solidFill>
                  <a:srgbClr val="FFFFFF"/>
                </a:solidFill>
                <a:latin typeface="Calibri"/>
              </a:rPr>
              <a:t>✓ MLOps: MLflow + Docker + Streamlit deployed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TotalTime>
  <Words>4164</Words>
  <Application>Microsoft Office PowerPoint</Application>
  <PresentationFormat>Custom</PresentationFormat>
  <Paragraphs>333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Vishal Singh</cp:lastModifiedBy>
  <cp:revision>2</cp:revision>
  <dcterms:created xsi:type="dcterms:W3CDTF">2013-01-27T09:14:16Z</dcterms:created>
  <dcterms:modified xsi:type="dcterms:W3CDTF">2026-06-27T20:16:19Z</dcterms:modified>
  <cp:category/>
</cp:coreProperties>
</file>